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</Types>
</file>

<file path=_rels/.rels><?xml version="1.0" encoding="UTF-8"?>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5088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1B17529-D84A-4479-B6CF-0BD81905D793}" type="slidenum">
              <a:t>&lt;#&gt;</a:t>
            </a:fld>
          </a:p>
        </p:txBody>
      </p:sp>
    </p:spTree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370160" y="577440"/>
            <a:ext cx="7315200" cy="1251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103360" y="1828800"/>
            <a:ext cx="3581640" cy="33148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49995"/>
          </a:bodyPr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82640" indent="-3254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1219320" indent="-30492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1736640" indent="-3650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2193840" indent="-365040">
              <a:spcBef>
                <a:spcPts val="700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2193840" indent="-365040">
              <a:spcBef>
                <a:spcPts val="700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2193840" indent="-365040">
              <a:spcBef>
                <a:spcPts val="700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6294600" y="4628520"/>
            <a:ext cx="258480" cy="2775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EC03029-F6F0-437D-B7F2-ACD355A5847B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218280" y="-109692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600">
            <a:solidFill>
              <a:srgbClr val="065a82">
                <a:alpha val="40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132680" y="-45720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600">
            <a:solidFill>
              <a:srgbClr val="1c7293">
                <a:alpha val="30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57200" y="503280"/>
            <a:ext cx="2560680" cy="347760"/>
          </a:xfrm>
          <a:prstGeom prst="roundRect">
            <a:avLst>
              <a:gd name="adj" fmla="val 13157"/>
            </a:avLst>
          </a:prstGeom>
          <a:solidFill>
            <a:srgbClr val="00b4d8">
              <a:alpha val="80000"/>
            </a:srgbClr>
          </a:solidFill>
          <a:ln w="12600">
            <a:solidFill>
              <a:srgbClr val="00b4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615240"/>
            <a:ext cx="25606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pc="-1" strike="noStrike">
                <a:solidFill>
                  <a:srgbClr val="0a1628"/>
                </a:solidFill>
                <a:latin typeface="Calibri"/>
                <a:ea typeface="Calibri"/>
              </a:rPr>
              <a:t>MACHINE LEARNING  |  CONSULTING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4"/>
          <p:cNvSpPr/>
          <p:nvPr/>
        </p:nvSpPr>
        <p:spPr>
          <a:xfrm>
            <a:off x="503280" y="1105200"/>
            <a:ext cx="7680240" cy="67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800" spc="-1" strike="noStrike">
                <a:solidFill>
                  <a:srgbClr val="ffffff"/>
                </a:solidFill>
                <a:latin typeface="Cambria"/>
                <a:ea typeface="Cambria"/>
              </a:rPr>
              <a:t>Optimizing Delivery ETAs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 5"/>
          <p:cNvSpPr/>
          <p:nvPr/>
        </p:nvSpPr>
        <p:spPr>
          <a:xfrm>
            <a:off x="503280" y="1866240"/>
            <a:ext cx="8137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b4d8"/>
                </a:solidFill>
                <a:latin typeface="Cambria"/>
                <a:ea typeface="Cambria"/>
              </a:rPr>
              <a:t>with Graph-Based Network Intelligence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2606760"/>
            <a:ext cx="4114800" cy="36360"/>
          </a:xfrm>
          <a:prstGeom prst="rect">
            <a:avLst/>
          </a:prstGeom>
          <a:solidFill>
            <a:srgbClr val="00b4d8"/>
          </a:solidFill>
          <a:ln w="12600">
            <a:solidFill>
              <a:srgbClr val="00b4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-9360" bIns="-936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3280" y="2774160"/>
            <a:ext cx="72230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Data Science Consulting Project — Delhivery Logistics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03280" y="3231000"/>
            <a:ext cx="81374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Graph Construction  •  Bottleneck Audit  •  ETA Prediction  •  FTL vs Carting Framework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57200" y="3794040"/>
            <a:ext cx="2560680" cy="914400"/>
          </a:xfrm>
          <a:prstGeom prst="roundRect">
            <a:avLst>
              <a:gd name="adj" fmla="val 8000"/>
            </a:avLst>
          </a:prstGeom>
          <a:solidFill>
            <a:srgbClr val="0d2137"/>
          </a:solidFill>
          <a:ln w="12600">
            <a:solidFill>
              <a:srgbClr val="1c7293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3280" y="3856320"/>
            <a:ext cx="246852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00b4d8"/>
                </a:solidFill>
                <a:latin typeface="Calibri"/>
                <a:ea typeface="Calibri"/>
              </a:rPr>
              <a:t>144,867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03280" y="4294080"/>
            <a:ext cx="2468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Trip Records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292560" y="3794040"/>
            <a:ext cx="2558880" cy="914400"/>
          </a:xfrm>
          <a:prstGeom prst="roundRect">
            <a:avLst>
              <a:gd name="adj" fmla="val 8000"/>
            </a:avLst>
          </a:prstGeom>
          <a:solidFill>
            <a:srgbClr val="0d2137"/>
          </a:solidFill>
          <a:ln w="12600">
            <a:solidFill>
              <a:srgbClr val="1c7293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336840" y="3856320"/>
            <a:ext cx="247032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00b4d8"/>
                </a:solidFill>
                <a:latin typeface="Calibri"/>
                <a:ea typeface="Calibri"/>
              </a:rPr>
              <a:t>1,657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336840" y="4294080"/>
            <a:ext cx="24703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Logistics Hubs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126120" y="3794040"/>
            <a:ext cx="2560680" cy="914400"/>
          </a:xfrm>
          <a:prstGeom prst="roundRect">
            <a:avLst>
              <a:gd name="adj" fmla="val 8000"/>
            </a:avLst>
          </a:prstGeom>
          <a:solidFill>
            <a:srgbClr val="0d2137"/>
          </a:solidFill>
          <a:ln w="12600">
            <a:solidFill>
              <a:srgbClr val="1c7293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172200" y="3856320"/>
            <a:ext cx="246852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00b4d8"/>
                </a:solidFill>
                <a:latin typeface="Calibri"/>
                <a:ea typeface="Calibri"/>
              </a:rPr>
              <a:t>4.96%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172200" y="4294080"/>
            <a:ext cx="24685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MAE Improvement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818480" y="4846320"/>
            <a:ext cx="100476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June 2026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Box 38"/>
          <p:cNvSpPr/>
          <p:nvPr/>
        </p:nvSpPr>
        <p:spPr>
          <a:xfrm>
            <a:off x="558000" y="3429000"/>
            <a:ext cx="42145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Hitesh Chandra  •  Kartik Khemani  •  Samarth Sharma  |  ABV — IIITM Gwalior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503280" y="258840"/>
            <a:ext cx="813744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a1628"/>
                </a:solidFill>
                <a:latin typeface="Cambria"/>
                <a:ea typeface="Cambria"/>
              </a:rPr>
              <a:t>The Challenge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"/>
          <p:cNvSpPr/>
          <p:nvPr/>
        </p:nvSpPr>
        <p:spPr>
          <a:xfrm>
            <a:off x="365040" y="1006560"/>
            <a:ext cx="5029200" cy="803160"/>
          </a:xfrm>
          <a:prstGeom prst="roundRect">
            <a:avLst>
              <a:gd name="adj" fmla="val 9093"/>
            </a:avLst>
          </a:prstGeom>
          <a:solidFill>
            <a:srgbClr val="ffffff"/>
          </a:solidFill>
          <a:ln w="12600">
            <a:solidFill>
              <a:srgbClr val="e8f4f8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549360" y="1105200"/>
            <a:ext cx="41112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⚠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1143000" y="1051920"/>
            <a:ext cx="4022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  <a:ea typeface="Calibri"/>
              </a:rPr>
              <a:t>OSRM Underestimates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4"/>
          <p:cNvSpPr/>
          <p:nvPr/>
        </p:nvSpPr>
        <p:spPr>
          <a:xfrm>
            <a:off x="1143000" y="1309680"/>
            <a:ext cx="402264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Assumes clean traffic &amp; shortest paths — ignores real-world congestion and dwell time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5"/>
          <p:cNvSpPr/>
          <p:nvPr/>
        </p:nvSpPr>
        <p:spPr>
          <a:xfrm>
            <a:off x="365040" y="1965240"/>
            <a:ext cx="5029200" cy="804960"/>
          </a:xfrm>
          <a:prstGeom prst="roundRect">
            <a:avLst>
              <a:gd name="adj" fmla="val 9093"/>
            </a:avLst>
          </a:prstGeom>
          <a:solidFill>
            <a:srgbClr val="ffffff"/>
          </a:solidFill>
          <a:ln w="12600">
            <a:solidFill>
              <a:srgbClr val="e8f4f8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549360" y="2064600"/>
            <a:ext cx="41112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📦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1143000" y="2011320"/>
            <a:ext cx="4022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  <a:ea typeface="Calibri"/>
              </a:rPr>
              <a:t>SLA Breaches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1143000" y="2346480"/>
            <a:ext cx="40226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When ETA is wrong, SLAs are missed and customers are dissatisfied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9"/>
          <p:cNvSpPr/>
          <p:nvPr/>
        </p:nvSpPr>
        <p:spPr>
          <a:xfrm>
            <a:off x="365040" y="2925720"/>
            <a:ext cx="5029200" cy="804960"/>
          </a:xfrm>
          <a:prstGeom prst="roundRect">
            <a:avLst>
              <a:gd name="adj" fmla="val 9093"/>
            </a:avLst>
          </a:prstGeom>
          <a:solidFill>
            <a:srgbClr val="ffffff"/>
          </a:solidFill>
          <a:ln w="12600">
            <a:solidFill>
              <a:srgbClr val="e8f4f8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549360" y="3025080"/>
            <a:ext cx="41112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🔗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1143000" y="2971800"/>
            <a:ext cx="4022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  <a:ea typeface="Calibri"/>
              </a:rPr>
              <a:t>No Network View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1143000" y="3230640"/>
            <a:ext cx="402264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No systematic way to identify which hubs and corridors cause the most delays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3"/>
          <p:cNvSpPr/>
          <p:nvPr/>
        </p:nvSpPr>
        <p:spPr>
          <a:xfrm>
            <a:off x="365040" y="3886200"/>
            <a:ext cx="5029200" cy="804960"/>
          </a:xfrm>
          <a:prstGeom prst="roundRect">
            <a:avLst>
              <a:gd name="adj" fmla="val 9093"/>
            </a:avLst>
          </a:prstGeom>
          <a:solidFill>
            <a:srgbClr val="ffffff"/>
          </a:solidFill>
          <a:ln w="12600">
            <a:solidFill>
              <a:srgbClr val="e8f4f8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549360" y="3984480"/>
            <a:ext cx="41112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🚛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5"/>
          <p:cNvSpPr/>
          <p:nvPr/>
        </p:nvSpPr>
        <p:spPr>
          <a:xfrm>
            <a:off x="1143000" y="3931560"/>
            <a:ext cx="4022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  <a:ea typeface="Calibri"/>
              </a:rPr>
              <a:t>Route Decisions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1143000" y="4191120"/>
            <a:ext cx="402264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FTL vs Carting decisions made without considering graph position or structural risk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17"/>
          <p:cNvSpPr/>
          <p:nvPr/>
        </p:nvSpPr>
        <p:spPr>
          <a:xfrm>
            <a:off x="5668920" y="960480"/>
            <a:ext cx="3110040" cy="3747960"/>
          </a:xfrm>
          <a:custGeom>
            <a:avLst/>
            <a:gdLst>
              <a:gd name="textAreaLeft" fmla="*/ 32040 w 3110040"/>
              <a:gd name="textAreaRight" fmla="*/ 3078000 w 3110040"/>
              <a:gd name="textAreaTop" fmla="*/ 32040 h 3747960"/>
              <a:gd name="textAreaBottom" fmla="*/ 3715920 h 3747960"/>
            </a:gdLst>
            <a:ahLst/>
            <a:rect l="textAreaLeft" t="textAreaTop" r="textAreaRight" b="textAreaBottom"/>
            <a:pathLst>
              <a:path w="21600" h="26030">
                <a:moveTo>
                  <a:pt x="762" y="0"/>
                </a:moveTo>
                <a:arcTo wR="762" hR="762" stAng="16200000" swAng="-5400000"/>
                <a:lnTo>
                  <a:pt x="0" y="25268"/>
                </a:lnTo>
                <a:arcTo wR="762" hR="762" stAng="10800000" swAng="-5400000"/>
                <a:lnTo>
                  <a:pt x="20838" y="26030"/>
                </a:lnTo>
                <a:arcTo wR="762" hR="762" stAng="5400000" swAng="-5400000"/>
                <a:lnTo>
                  <a:pt x="21600" y="762"/>
                </a:lnTo>
                <a:arcTo wR="762" hR="762" stAng="0" swAng="-5400000"/>
                <a:close/>
              </a:path>
            </a:pathLst>
          </a:custGeom>
          <a:solidFill>
            <a:srgbClr val="0a1628"/>
          </a:solidFill>
          <a:ln w="12600">
            <a:solidFill>
              <a:srgbClr val="1c7293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5715000" y="1135440"/>
            <a:ext cx="30178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THE ETA GAP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9"/>
          <p:cNvSpPr/>
          <p:nvPr/>
        </p:nvSpPr>
        <p:spPr>
          <a:xfrm>
            <a:off x="5943600" y="1646280"/>
            <a:ext cx="2560680" cy="731880"/>
          </a:xfrm>
          <a:prstGeom prst="roundRect">
            <a:avLst>
              <a:gd name="adj" fmla="val 7500"/>
            </a:avLst>
          </a:prstGeom>
          <a:solidFill>
            <a:srgbClr val="2ecc71">
              <a:alpha val="25000"/>
            </a:srgbClr>
          </a:solidFill>
          <a:ln w="12600">
            <a:solidFill>
              <a:srgbClr val="2ecc7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0"/>
          <p:cNvSpPr/>
          <p:nvPr/>
        </p:nvSpPr>
        <p:spPr>
          <a:xfrm>
            <a:off x="5989680" y="1687320"/>
            <a:ext cx="24685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OSRM Predicts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5989680" y="1910880"/>
            <a:ext cx="24685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2ecc71"/>
                </a:solidFill>
                <a:latin typeface="Calibri"/>
                <a:ea typeface="Calibri"/>
              </a:rPr>
              <a:t>4.2 hrs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22"/>
          <p:cNvSpPr/>
          <p:nvPr/>
        </p:nvSpPr>
        <p:spPr>
          <a:xfrm>
            <a:off x="5943600" y="2606760"/>
            <a:ext cx="2560680" cy="730080"/>
          </a:xfrm>
          <a:prstGeom prst="roundRect">
            <a:avLst>
              <a:gd name="adj" fmla="val 7500"/>
            </a:avLst>
          </a:prstGeom>
          <a:solidFill>
            <a:srgbClr val="e74c3c">
              <a:alpha val="25000"/>
            </a:srgbClr>
          </a:solidFill>
          <a:ln w="12600">
            <a:solidFill>
              <a:srgbClr val="e74c3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3"/>
          <p:cNvSpPr/>
          <p:nvPr/>
        </p:nvSpPr>
        <p:spPr>
          <a:xfrm>
            <a:off x="5989680" y="2646720"/>
            <a:ext cx="24685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Actual Time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4"/>
          <p:cNvSpPr/>
          <p:nvPr/>
        </p:nvSpPr>
        <p:spPr>
          <a:xfrm>
            <a:off x="5989680" y="2871360"/>
            <a:ext cx="24685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e74c3c"/>
                </a:solidFill>
                <a:latin typeface="Calibri"/>
                <a:ea typeface="Calibri"/>
              </a:rPr>
              <a:t>6.1 hrs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25"/>
          <p:cNvSpPr/>
          <p:nvPr/>
        </p:nvSpPr>
        <p:spPr>
          <a:xfrm>
            <a:off x="5943600" y="3565440"/>
            <a:ext cx="2560680" cy="731880"/>
          </a:xfrm>
          <a:prstGeom prst="roundRect">
            <a:avLst>
              <a:gd name="adj" fmla="val 7500"/>
            </a:avLst>
          </a:prstGeom>
          <a:solidFill>
            <a:srgbClr val="f39c12">
              <a:alpha val="25000"/>
            </a:srgbClr>
          </a:solidFill>
          <a:ln w="12600">
            <a:solidFill>
              <a:srgbClr val="f39c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5989680" y="3606480"/>
            <a:ext cx="24685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The Gap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7"/>
          <p:cNvSpPr/>
          <p:nvPr/>
        </p:nvSpPr>
        <p:spPr>
          <a:xfrm>
            <a:off x="5989680" y="3831840"/>
            <a:ext cx="24685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f39c12"/>
                </a:solidFill>
                <a:latin typeface="Calibri"/>
                <a:ea typeface="Calibri"/>
              </a:rPr>
              <a:t>+1.9 hrs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503280" y="258840"/>
            <a:ext cx="813744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Our Approach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503280" y="804240"/>
            <a:ext cx="81374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Treating the logistics network as a connected graph — not independent point-to-point estimates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274680" y="1279440"/>
            <a:ext cx="1573200" cy="3475080"/>
          </a:xfrm>
          <a:custGeom>
            <a:avLst/>
            <a:gdLst>
              <a:gd name="textAreaLeft" fmla="*/ 26640 w 1573200"/>
              <a:gd name="textAreaRight" fmla="*/ 1546560 w 1573200"/>
              <a:gd name="textAreaTop" fmla="*/ 26640 h 3475080"/>
              <a:gd name="textAreaBottom" fmla="*/ 3448440 h 3475080"/>
            </a:gdLst>
            <a:ahLst/>
            <a:rect l="textAreaLeft" t="textAreaTop" r="textAreaRight" b="textAreaBottom"/>
            <a:pathLst>
              <a:path w="21600" h="47707">
                <a:moveTo>
                  <a:pt x="1256" y="0"/>
                </a:moveTo>
                <a:arcTo wR="1256" hR="1256" stAng="16200000" swAng="-5400000"/>
                <a:lnTo>
                  <a:pt x="0" y="46451"/>
                </a:lnTo>
                <a:arcTo wR="1256" hR="1256" stAng="10800000" swAng="-5400000"/>
                <a:lnTo>
                  <a:pt x="20344" y="47707"/>
                </a:lnTo>
                <a:arcTo wR="1256" hR="1256" stAng="5400000" swAng="-5400000"/>
                <a:lnTo>
                  <a:pt x="21600" y="1256"/>
                </a:lnTo>
                <a:arcTo wR="1256" hR="1256" stAng="0" swAng="-5400000"/>
                <a:close/>
              </a:path>
            </a:pathLst>
          </a:custGeom>
          <a:solidFill>
            <a:srgbClr val="0d2137"/>
          </a:solidFill>
          <a:ln w="12600">
            <a:solidFill>
              <a:srgbClr val="00b4d8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785880" y="1417680"/>
            <a:ext cx="549360" cy="547560"/>
          </a:xfrm>
          <a:prstGeom prst="ellipse">
            <a:avLst/>
          </a:prstGeom>
          <a:solidFill>
            <a:srgbClr val="00b4d8"/>
          </a:solidFill>
          <a:ln w="12600">
            <a:solidFill>
              <a:srgbClr val="00b4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785880" y="1569600"/>
            <a:ext cx="5493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320760" y="2202480"/>
            <a:ext cx="14810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Graph Construction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320760" y="3177000"/>
            <a:ext cx="148104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Facilities as nodes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Corridors as edges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Edge weight = delay ratio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7"/>
          <p:cNvSpPr/>
          <p:nvPr/>
        </p:nvSpPr>
        <p:spPr>
          <a:xfrm>
            <a:off x="1884240" y="3017880"/>
            <a:ext cx="73080" cy="0"/>
          </a:xfrm>
          <a:prstGeom prst="line">
            <a:avLst/>
          </a:prstGeom>
          <a:ln w="19080">
            <a:solidFill>
              <a:srgbClr val="00b4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360" rIns="45360" tIns="-45360" bIns="-45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8"/>
          <p:cNvSpPr/>
          <p:nvPr/>
        </p:nvSpPr>
        <p:spPr>
          <a:xfrm>
            <a:off x="1994040" y="1279440"/>
            <a:ext cx="1571400" cy="3475080"/>
          </a:xfrm>
          <a:custGeom>
            <a:avLst/>
            <a:gdLst>
              <a:gd name="textAreaLeft" fmla="*/ 26640 w 1571400"/>
              <a:gd name="textAreaRight" fmla="*/ 1544760 w 1571400"/>
              <a:gd name="textAreaTop" fmla="*/ 26640 h 3475080"/>
              <a:gd name="textAreaBottom" fmla="*/ 3448440 h 3475080"/>
            </a:gdLst>
            <a:ahLst/>
            <a:rect l="textAreaLeft" t="textAreaTop" r="textAreaRight" b="textAreaBottom"/>
            <a:pathLst>
              <a:path w="21600" h="47761">
                <a:moveTo>
                  <a:pt x="1256" y="0"/>
                </a:moveTo>
                <a:arcTo wR="1256" hR="1256" stAng="16200000" swAng="-5400000"/>
                <a:lnTo>
                  <a:pt x="0" y="46505"/>
                </a:lnTo>
                <a:arcTo wR="1256" hR="1256" stAng="10800000" swAng="-5400000"/>
                <a:lnTo>
                  <a:pt x="20344" y="47761"/>
                </a:lnTo>
                <a:arcTo wR="1256" hR="1256" stAng="5400000" swAng="-5400000"/>
                <a:lnTo>
                  <a:pt x="21600" y="1256"/>
                </a:lnTo>
                <a:arcTo wR="1256" hR="1256" stAng="0" swAng="-5400000"/>
                <a:close/>
              </a:path>
            </a:pathLst>
          </a:custGeom>
          <a:solidFill>
            <a:srgbClr val="0d2137"/>
          </a:solidFill>
          <a:ln w="12600">
            <a:solidFill>
              <a:srgbClr val="2ecc71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9"/>
          <p:cNvSpPr/>
          <p:nvPr/>
        </p:nvSpPr>
        <p:spPr>
          <a:xfrm>
            <a:off x="2505240" y="1417680"/>
            <a:ext cx="549000" cy="547560"/>
          </a:xfrm>
          <a:prstGeom prst="ellipse">
            <a:avLst/>
          </a:prstGeom>
          <a:solidFill>
            <a:srgbClr val="2ecc71"/>
          </a:solidFill>
          <a:ln w="12600">
            <a:solidFill>
              <a:srgbClr val="2ecc7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2505240" y="1569600"/>
            <a:ext cx="5490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2038320" y="2202480"/>
            <a:ext cx="14828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2ecc71"/>
                </a:solidFill>
                <a:latin typeface="Calibri"/>
                <a:ea typeface="Calibri"/>
              </a:rPr>
              <a:t>Bottleneck Audit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2038320" y="3177000"/>
            <a:ext cx="148284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Betweenness centrality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PageRank &amp; clustering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Top 5 chokepoints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3"/>
          <p:cNvSpPr/>
          <p:nvPr/>
        </p:nvSpPr>
        <p:spPr>
          <a:xfrm>
            <a:off x="3602160" y="3017880"/>
            <a:ext cx="74520" cy="0"/>
          </a:xfrm>
          <a:prstGeom prst="line">
            <a:avLst/>
          </a:prstGeom>
          <a:ln w="19080">
            <a:solidFill>
              <a:srgbClr val="00b4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360" rIns="45360" tIns="-45360" bIns="-45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4"/>
          <p:cNvSpPr/>
          <p:nvPr/>
        </p:nvSpPr>
        <p:spPr>
          <a:xfrm>
            <a:off x="3713040" y="1279440"/>
            <a:ext cx="1571760" cy="3475080"/>
          </a:xfrm>
          <a:custGeom>
            <a:avLst/>
            <a:gdLst>
              <a:gd name="textAreaLeft" fmla="*/ 26640 w 1571760"/>
              <a:gd name="textAreaRight" fmla="*/ 1545120 w 1571760"/>
              <a:gd name="textAreaTop" fmla="*/ 26640 h 3475080"/>
              <a:gd name="textAreaBottom" fmla="*/ 3448440 h 3475080"/>
            </a:gdLst>
            <a:ahLst/>
            <a:rect l="textAreaLeft" t="textAreaTop" r="textAreaRight" b="textAreaBottom"/>
            <a:pathLst>
              <a:path w="21600" h="47750">
                <a:moveTo>
                  <a:pt x="1256" y="0"/>
                </a:moveTo>
                <a:arcTo wR="1256" hR="1256" stAng="16200000" swAng="-5400000"/>
                <a:lnTo>
                  <a:pt x="0" y="46494"/>
                </a:lnTo>
                <a:arcTo wR="1256" hR="1256" stAng="10800000" swAng="-5400000"/>
                <a:lnTo>
                  <a:pt x="20344" y="47750"/>
                </a:lnTo>
                <a:arcTo wR="1256" hR="1256" stAng="5400000" swAng="-5400000"/>
                <a:lnTo>
                  <a:pt x="21600" y="1256"/>
                </a:lnTo>
                <a:arcTo wR="1256" hR="1256" stAng="0" swAng="-5400000"/>
                <a:close/>
              </a:path>
            </a:pathLst>
          </a:custGeom>
          <a:solidFill>
            <a:srgbClr val="0d2137"/>
          </a:solidFill>
          <a:ln w="12600">
            <a:solidFill>
              <a:srgbClr val="f39c12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5"/>
          <p:cNvSpPr/>
          <p:nvPr/>
        </p:nvSpPr>
        <p:spPr>
          <a:xfrm>
            <a:off x="4224240" y="1417680"/>
            <a:ext cx="549360" cy="547560"/>
          </a:xfrm>
          <a:prstGeom prst="ellipse">
            <a:avLst/>
          </a:prstGeom>
          <a:solidFill>
            <a:srgbClr val="f39c12"/>
          </a:solidFill>
          <a:ln w="12600">
            <a:solidFill>
              <a:srgbClr val="f39c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4224240" y="1569600"/>
            <a:ext cx="5493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7"/>
          <p:cNvSpPr/>
          <p:nvPr/>
        </p:nvSpPr>
        <p:spPr>
          <a:xfrm>
            <a:off x="3757680" y="2202480"/>
            <a:ext cx="14810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f39c12"/>
                </a:solidFill>
                <a:latin typeface="Calibri"/>
                <a:ea typeface="Calibri"/>
              </a:rPr>
              <a:t>Graph-Enhanced ETA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8"/>
          <p:cNvSpPr/>
          <p:nvPr/>
        </p:nvSpPr>
        <p:spPr>
          <a:xfrm>
            <a:off x="3757680" y="3177000"/>
            <a:ext cx="148104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Baseline XGBoost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vs Graph-Enhanced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4.96% MAE improvement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9"/>
          <p:cNvSpPr/>
          <p:nvPr/>
        </p:nvSpPr>
        <p:spPr>
          <a:xfrm>
            <a:off x="5321160" y="3017880"/>
            <a:ext cx="73080" cy="0"/>
          </a:xfrm>
          <a:prstGeom prst="line">
            <a:avLst/>
          </a:prstGeom>
          <a:ln w="19080">
            <a:solidFill>
              <a:srgbClr val="00b4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360" rIns="45360" tIns="-45360" bIns="-45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20"/>
          <p:cNvSpPr/>
          <p:nvPr/>
        </p:nvSpPr>
        <p:spPr>
          <a:xfrm>
            <a:off x="5430960" y="1279440"/>
            <a:ext cx="1573200" cy="3475080"/>
          </a:xfrm>
          <a:custGeom>
            <a:avLst/>
            <a:gdLst>
              <a:gd name="textAreaLeft" fmla="*/ 26640 w 1573200"/>
              <a:gd name="textAreaRight" fmla="*/ 1546560 w 1573200"/>
              <a:gd name="textAreaTop" fmla="*/ 26640 h 3475080"/>
              <a:gd name="textAreaBottom" fmla="*/ 3448440 h 3475080"/>
            </a:gdLst>
            <a:ahLst/>
            <a:rect l="textAreaLeft" t="textAreaTop" r="textAreaRight" b="textAreaBottom"/>
            <a:pathLst>
              <a:path w="21600" h="47707">
                <a:moveTo>
                  <a:pt x="1256" y="0"/>
                </a:moveTo>
                <a:arcTo wR="1256" hR="1256" stAng="16200000" swAng="-5400000"/>
                <a:lnTo>
                  <a:pt x="0" y="46451"/>
                </a:lnTo>
                <a:arcTo wR="1256" hR="1256" stAng="10800000" swAng="-5400000"/>
                <a:lnTo>
                  <a:pt x="20344" y="47707"/>
                </a:lnTo>
                <a:arcTo wR="1256" hR="1256" stAng="5400000" swAng="-5400000"/>
                <a:lnTo>
                  <a:pt x="21600" y="1256"/>
                </a:lnTo>
                <a:arcTo wR="1256" hR="1256" stAng="0" swAng="-5400000"/>
                <a:close/>
              </a:path>
            </a:pathLst>
          </a:custGeom>
          <a:solidFill>
            <a:srgbClr val="0d2137"/>
          </a:solidFill>
          <a:ln w="12600">
            <a:solidFill>
              <a:srgbClr val="9b59b6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21"/>
          <p:cNvSpPr/>
          <p:nvPr/>
        </p:nvSpPr>
        <p:spPr>
          <a:xfrm>
            <a:off x="5943600" y="1417680"/>
            <a:ext cx="549360" cy="547560"/>
          </a:xfrm>
          <a:prstGeom prst="ellipse">
            <a:avLst/>
          </a:prstGeom>
          <a:solidFill>
            <a:srgbClr val="9b59b6"/>
          </a:solidFill>
          <a:ln w="12600">
            <a:solidFill>
              <a:srgbClr val="9b59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22"/>
          <p:cNvSpPr/>
          <p:nvPr/>
        </p:nvSpPr>
        <p:spPr>
          <a:xfrm>
            <a:off x="5943600" y="1569600"/>
            <a:ext cx="5493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3"/>
          <p:cNvSpPr/>
          <p:nvPr/>
        </p:nvSpPr>
        <p:spPr>
          <a:xfrm>
            <a:off x="5477040" y="2202480"/>
            <a:ext cx="14810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9b59b6"/>
                </a:solidFill>
                <a:latin typeface="Calibri"/>
                <a:ea typeface="Calibri"/>
              </a:rPr>
              <a:t>FTL vs Carting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4"/>
          <p:cNvSpPr/>
          <p:nvPr/>
        </p:nvSpPr>
        <p:spPr>
          <a:xfrm>
            <a:off x="5477040" y="3177000"/>
            <a:ext cx="148104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ML-backed framework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Distance buckets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Route-type decisions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5"/>
          <p:cNvSpPr/>
          <p:nvPr/>
        </p:nvSpPr>
        <p:spPr>
          <a:xfrm>
            <a:off x="7040520" y="3017880"/>
            <a:ext cx="73080" cy="0"/>
          </a:xfrm>
          <a:prstGeom prst="line">
            <a:avLst/>
          </a:prstGeom>
          <a:ln w="19080">
            <a:solidFill>
              <a:srgbClr val="00b4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360" rIns="45360" tIns="-45360" bIns="-45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6"/>
          <p:cNvSpPr/>
          <p:nvPr/>
        </p:nvSpPr>
        <p:spPr>
          <a:xfrm>
            <a:off x="7149960" y="1279440"/>
            <a:ext cx="1573200" cy="3475080"/>
          </a:xfrm>
          <a:custGeom>
            <a:avLst/>
            <a:gdLst>
              <a:gd name="textAreaLeft" fmla="*/ 26640 w 1573200"/>
              <a:gd name="textAreaRight" fmla="*/ 1546560 w 1573200"/>
              <a:gd name="textAreaTop" fmla="*/ 26640 h 3475080"/>
              <a:gd name="textAreaBottom" fmla="*/ 3448440 h 3475080"/>
            </a:gdLst>
            <a:ahLst/>
            <a:rect l="textAreaLeft" t="textAreaTop" r="textAreaRight" b="textAreaBottom"/>
            <a:pathLst>
              <a:path w="21600" h="47707">
                <a:moveTo>
                  <a:pt x="1256" y="0"/>
                </a:moveTo>
                <a:arcTo wR="1256" hR="1256" stAng="16200000" swAng="-5400000"/>
                <a:lnTo>
                  <a:pt x="0" y="46451"/>
                </a:lnTo>
                <a:arcTo wR="1256" hR="1256" stAng="10800000" swAng="-5400000"/>
                <a:lnTo>
                  <a:pt x="20344" y="47707"/>
                </a:lnTo>
                <a:arcTo wR="1256" hR="1256" stAng="5400000" swAng="-5400000"/>
                <a:lnTo>
                  <a:pt x="21600" y="1256"/>
                </a:lnTo>
                <a:arcTo wR="1256" hR="1256" stAng="0" swAng="-5400000"/>
                <a:close/>
              </a:path>
            </a:pathLst>
          </a:custGeom>
          <a:solidFill>
            <a:srgbClr val="0d2137"/>
          </a:solidFill>
          <a:ln w="12600">
            <a:solidFill>
              <a:srgbClr val="e74c3c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7"/>
          <p:cNvSpPr/>
          <p:nvPr/>
        </p:nvSpPr>
        <p:spPr>
          <a:xfrm>
            <a:off x="7662960" y="1417680"/>
            <a:ext cx="547560" cy="547560"/>
          </a:xfrm>
          <a:prstGeom prst="ellipse">
            <a:avLst/>
          </a:prstGeom>
          <a:solidFill>
            <a:srgbClr val="e74c3c"/>
          </a:solidFill>
          <a:ln w="12600">
            <a:solidFill>
              <a:srgbClr val="e74c3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8"/>
          <p:cNvSpPr/>
          <p:nvPr/>
        </p:nvSpPr>
        <p:spPr>
          <a:xfrm>
            <a:off x="7662960" y="1569600"/>
            <a:ext cx="5475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9"/>
          <p:cNvSpPr/>
          <p:nvPr/>
        </p:nvSpPr>
        <p:spPr>
          <a:xfrm>
            <a:off x="7196040" y="2202480"/>
            <a:ext cx="1481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e74c3c"/>
                </a:solidFill>
                <a:latin typeface="Calibri"/>
                <a:ea typeface="Calibri"/>
              </a:rPr>
              <a:t>Strategy Memo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30"/>
          <p:cNvSpPr/>
          <p:nvPr/>
        </p:nvSpPr>
        <p:spPr>
          <a:xfrm>
            <a:off x="7196040" y="3177000"/>
            <a:ext cx="14814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Top 5 hubs identified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Revenue impact quantified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Actionable interventions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31"/>
          <p:cNvSpPr/>
          <p:nvPr/>
        </p:nvSpPr>
        <p:spPr>
          <a:xfrm>
            <a:off x="503280" y="4763160"/>
            <a:ext cx="81374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Final Output: A consulting deliverable — a strategy memo a real operations leader could act 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503280" y="258840"/>
            <a:ext cx="813744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a1628"/>
                </a:solidFill>
                <a:latin typeface="Cambria"/>
                <a:ea typeface="Cambria"/>
              </a:rPr>
              <a:t>Dataset at a Glance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1"/>
          <p:cNvSpPr/>
          <p:nvPr/>
        </p:nvSpPr>
        <p:spPr>
          <a:xfrm>
            <a:off x="365040" y="1006560"/>
            <a:ext cx="1967040" cy="1187280"/>
          </a:xfrm>
          <a:prstGeom prst="roundRect">
            <a:avLst>
              <a:gd name="adj" fmla="val 7690"/>
            </a:avLst>
          </a:prstGeom>
          <a:solidFill>
            <a:srgbClr val="ffffff"/>
          </a:solidFill>
          <a:ln w="12600">
            <a:solidFill>
              <a:srgbClr val="065a82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411120" y="1051200"/>
            <a:ext cx="18748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📊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411120" y="1368720"/>
            <a:ext cx="18748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065a82"/>
                </a:solidFill>
                <a:latin typeface="Calibri"/>
                <a:ea typeface="Calibri"/>
              </a:rPr>
              <a:t>144,867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411120" y="1762200"/>
            <a:ext cx="18748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Trip Records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2514600" y="1006560"/>
            <a:ext cx="1965240" cy="1187280"/>
          </a:xfrm>
          <a:prstGeom prst="roundRect">
            <a:avLst>
              <a:gd name="adj" fmla="val 7690"/>
            </a:avLst>
          </a:prstGeom>
          <a:solidFill>
            <a:srgbClr val="ffffff"/>
          </a:solidFill>
          <a:ln w="12600">
            <a:solidFill>
              <a:srgbClr val="1c7293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2560680" y="1051200"/>
            <a:ext cx="18748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🏭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2560680" y="1368720"/>
            <a:ext cx="18748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1c7293"/>
                </a:solidFill>
                <a:latin typeface="Calibri"/>
                <a:ea typeface="Calibri"/>
              </a:rPr>
              <a:t>1,657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2560680" y="1762200"/>
            <a:ext cx="18748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Logistics Hubs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9"/>
          <p:cNvSpPr/>
          <p:nvPr/>
        </p:nvSpPr>
        <p:spPr>
          <a:xfrm>
            <a:off x="4664160" y="1006560"/>
            <a:ext cx="1965240" cy="1187280"/>
          </a:xfrm>
          <a:prstGeom prst="roundRect">
            <a:avLst>
              <a:gd name="adj" fmla="val 7690"/>
            </a:avLst>
          </a:prstGeom>
          <a:solidFill>
            <a:srgbClr val="ffffff"/>
          </a:solidFill>
          <a:ln w="12600">
            <a:solidFill>
              <a:srgbClr val="7c3aed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4708440" y="1051200"/>
            <a:ext cx="18748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4708440" y="1368720"/>
            <a:ext cx="18748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7c3aed"/>
                </a:solidFill>
                <a:latin typeface="Calibri"/>
                <a:ea typeface="Calibri"/>
              </a:rPr>
              <a:t>25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4708440" y="1762200"/>
            <a:ext cx="18748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Raw Features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3"/>
          <p:cNvSpPr/>
          <p:nvPr/>
        </p:nvSpPr>
        <p:spPr>
          <a:xfrm>
            <a:off x="6811920" y="1006560"/>
            <a:ext cx="1967040" cy="1187280"/>
          </a:xfrm>
          <a:prstGeom prst="roundRect">
            <a:avLst>
              <a:gd name="adj" fmla="val 7690"/>
            </a:avLst>
          </a:prstGeom>
          <a:solidFill>
            <a:srgbClr val="ffffff"/>
          </a:solidFill>
          <a:ln w="12600">
            <a:solidFill>
              <a:srgbClr val="2ecc71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4"/>
          <p:cNvSpPr/>
          <p:nvPr/>
        </p:nvSpPr>
        <p:spPr>
          <a:xfrm>
            <a:off x="6858000" y="1051200"/>
            <a:ext cx="18748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5"/>
          <p:cNvSpPr/>
          <p:nvPr/>
        </p:nvSpPr>
        <p:spPr>
          <a:xfrm>
            <a:off x="6858000" y="1368720"/>
            <a:ext cx="18748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2ecc71"/>
                </a:solidFill>
                <a:latin typeface="Calibri"/>
                <a:ea typeface="Calibri"/>
              </a:rPr>
              <a:t>56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6"/>
          <p:cNvSpPr/>
          <p:nvPr/>
        </p:nvSpPr>
        <p:spPr>
          <a:xfrm>
            <a:off x="6858000" y="1762200"/>
            <a:ext cx="18748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Model Features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7"/>
          <p:cNvSpPr/>
          <p:nvPr/>
        </p:nvSpPr>
        <p:spPr>
          <a:xfrm>
            <a:off x="503280" y="2431080"/>
            <a:ext cx="40226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a1628"/>
                </a:solidFill>
                <a:latin typeface="Cambria"/>
                <a:ea typeface="Cambria"/>
              </a:rPr>
              <a:t>Key Columns Used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1" name=""/>
          <p:cNvGraphicFramePr/>
          <p:nvPr/>
        </p:nvGraphicFramePr>
        <p:xfrm>
          <a:off x="365040" y="2789280"/>
          <a:ext cx="5029200" cy="2047680"/>
        </p:xfrm>
        <a:graphic>
          <a:graphicData uri="http://schemas.openxmlformats.org/drawingml/2006/table">
            <a:tbl>
              <a:tblPr/>
              <a:tblGrid>
                <a:gridCol w="2013120"/>
                <a:gridCol w="3016080"/>
              </a:tblGrid>
              <a:tr h="29196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Column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d1d5db"/>
                      </a:solidFill>
                      <a:prstDash val="solid"/>
                    </a:lnL>
                    <a:lnR w="2880">
                      <a:solidFill>
                        <a:srgbClr val="d1d5db"/>
                      </a:solidFill>
                      <a:prstDash val="solid"/>
                    </a:lnR>
                    <a:lnT w="2880">
                      <a:solidFill>
                        <a:srgbClr val="d1d5db"/>
                      </a:solidFill>
                      <a:prstDash val="solid"/>
                    </a:lnT>
                    <a:lnB w="2880">
                      <a:solidFill>
                        <a:srgbClr val="d1d5db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What it represents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d1d5db"/>
                      </a:solidFill>
                      <a:prstDash val="solid"/>
                    </a:lnL>
                    <a:lnR w="2880">
                      <a:solidFill>
                        <a:srgbClr val="d1d5db"/>
                      </a:solidFill>
                      <a:prstDash val="solid"/>
                    </a:lnR>
                    <a:lnT w="2880">
                      <a:solidFill>
                        <a:srgbClr val="d1d5db"/>
                      </a:solidFill>
                      <a:prstDash val="solid"/>
                    </a:lnT>
                    <a:lnB w="2880">
                      <a:solidFill>
                        <a:srgbClr val="d1d5db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</a:tr>
              <a:tr h="29232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actual_time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d1d5db"/>
                      </a:solidFill>
                      <a:prstDash val="solid"/>
                    </a:lnL>
                    <a:lnR w="2880">
                      <a:solidFill>
                        <a:srgbClr val="d1d5db"/>
                      </a:solidFill>
                      <a:prstDash val="solid"/>
                    </a:lnR>
                    <a:lnT w="2880">
                      <a:solidFill>
                        <a:srgbClr val="d1d5db"/>
                      </a:solidFill>
                      <a:prstDash val="solid"/>
                    </a:lnT>
                    <a:lnB w="2880">
                      <a:solidFill>
                        <a:srgbClr val="d1d5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Ground truth delivery time (target)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d1d5db"/>
                      </a:solidFill>
                      <a:prstDash val="solid"/>
                    </a:lnL>
                    <a:lnR w="2880">
                      <a:solidFill>
                        <a:srgbClr val="d1d5db"/>
                      </a:solidFill>
                      <a:prstDash val="solid"/>
                    </a:lnR>
                    <a:lnT w="2880">
                      <a:solidFill>
                        <a:srgbClr val="d1d5db"/>
                      </a:solidFill>
                      <a:prstDash val="solid"/>
                    </a:lnT>
                    <a:lnB w="2880">
                      <a:solidFill>
                        <a:srgbClr val="d1d5db"/>
                      </a:solidFill>
                      <a:prstDash val="solid"/>
                    </a:lnB>
                    <a:noFill/>
                  </a:tcPr>
                </a:tc>
              </a:tr>
              <a:tr h="29340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osrm_time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d1d5db"/>
                      </a:solidFill>
                      <a:prstDash val="solid"/>
                    </a:lnL>
                    <a:lnR w="2880">
                      <a:solidFill>
                        <a:srgbClr val="d1d5db"/>
                      </a:solidFill>
                      <a:prstDash val="solid"/>
                    </a:lnR>
                    <a:lnT w="2880">
                      <a:solidFill>
                        <a:srgbClr val="d1d5db"/>
                      </a:solidFill>
                      <a:prstDash val="solid"/>
                    </a:lnT>
                    <a:lnB w="2880">
                      <a:solidFill>
                        <a:srgbClr val="d1d5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Baseline OSRM predicted time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d1d5db"/>
                      </a:solidFill>
                      <a:prstDash val="solid"/>
                    </a:lnL>
                    <a:lnR w="2880">
                      <a:solidFill>
                        <a:srgbClr val="d1d5db"/>
                      </a:solidFill>
                      <a:prstDash val="solid"/>
                    </a:lnR>
                    <a:lnT w="2880">
                      <a:solidFill>
                        <a:srgbClr val="d1d5db"/>
                      </a:solidFill>
                      <a:prstDash val="solid"/>
                    </a:lnT>
                    <a:lnB w="2880">
                      <a:solidFill>
                        <a:srgbClr val="d1d5db"/>
                      </a:solidFill>
                      <a:prstDash val="solid"/>
                    </a:lnB>
                    <a:noFill/>
                  </a:tcPr>
                </a:tc>
              </a:tr>
              <a:tr h="29232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delay_ratio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d1d5db"/>
                      </a:solidFill>
                      <a:prstDash val="solid"/>
                    </a:lnL>
                    <a:lnR w="2880">
                      <a:solidFill>
                        <a:srgbClr val="d1d5db"/>
                      </a:solidFill>
                      <a:prstDash val="solid"/>
                    </a:lnR>
                    <a:lnT w="2880">
                      <a:solidFill>
                        <a:srgbClr val="d1d5db"/>
                      </a:solidFill>
                      <a:prstDash val="solid"/>
                    </a:lnT>
                    <a:lnB w="2880">
                      <a:solidFill>
                        <a:srgbClr val="d1d5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actual / osrm — &gt;1.2 means delayed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d1d5db"/>
                      </a:solidFill>
                      <a:prstDash val="solid"/>
                    </a:lnL>
                    <a:lnR w="2880">
                      <a:solidFill>
                        <a:srgbClr val="d1d5db"/>
                      </a:solidFill>
                      <a:prstDash val="solid"/>
                    </a:lnR>
                    <a:lnT w="2880">
                      <a:solidFill>
                        <a:srgbClr val="d1d5db"/>
                      </a:solidFill>
                      <a:prstDash val="solid"/>
                    </a:lnT>
                    <a:lnB w="2880">
                      <a:solidFill>
                        <a:srgbClr val="d1d5db"/>
                      </a:solidFill>
                      <a:prstDash val="solid"/>
                    </a:lnB>
                    <a:noFill/>
                  </a:tcPr>
                </a:tc>
              </a:tr>
              <a:tr h="29196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source / destination center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d1d5db"/>
                      </a:solidFill>
                      <a:prstDash val="solid"/>
                    </a:lnL>
                    <a:lnR w="2880">
                      <a:solidFill>
                        <a:srgbClr val="d1d5db"/>
                      </a:solidFill>
                      <a:prstDash val="solid"/>
                    </a:lnR>
                    <a:lnT w="2880">
                      <a:solidFill>
                        <a:srgbClr val="d1d5db"/>
                      </a:solidFill>
                      <a:prstDash val="solid"/>
                    </a:lnT>
                    <a:lnB w="2880">
                      <a:solidFill>
                        <a:srgbClr val="d1d5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Hub identifiers (nodes in graph)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d1d5db"/>
                      </a:solidFill>
                      <a:prstDash val="solid"/>
                    </a:lnL>
                    <a:lnR w="2880">
                      <a:solidFill>
                        <a:srgbClr val="d1d5db"/>
                      </a:solidFill>
                      <a:prstDash val="solid"/>
                    </a:lnR>
                    <a:lnT w="2880">
                      <a:solidFill>
                        <a:srgbClr val="d1d5db"/>
                      </a:solidFill>
                      <a:prstDash val="solid"/>
                    </a:lnT>
                    <a:lnB w="2880">
                      <a:solidFill>
                        <a:srgbClr val="d1d5db"/>
                      </a:solidFill>
                      <a:prstDash val="solid"/>
                    </a:lnB>
                    <a:noFill/>
                  </a:tcPr>
                </a:tc>
              </a:tr>
              <a:tr h="29376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route_type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d1d5db"/>
                      </a:solidFill>
                      <a:prstDash val="solid"/>
                    </a:lnL>
                    <a:lnR w="2880">
                      <a:solidFill>
                        <a:srgbClr val="d1d5db"/>
                      </a:solidFill>
                      <a:prstDash val="solid"/>
                    </a:lnR>
                    <a:lnT w="2880">
                      <a:solidFill>
                        <a:srgbClr val="d1d5db"/>
                      </a:solidFill>
                      <a:prstDash val="solid"/>
                    </a:lnT>
                    <a:lnB w="2880">
                      <a:solidFill>
                        <a:srgbClr val="d1d5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FTL or Carting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d1d5db"/>
                      </a:solidFill>
                      <a:prstDash val="solid"/>
                    </a:lnL>
                    <a:lnR w="2880">
                      <a:solidFill>
                        <a:srgbClr val="d1d5db"/>
                      </a:solidFill>
                      <a:prstDash val="solid"/>
                    </a:lnR>
                    <a:lnT w="2880">
                      <a:solidFill>
                        <a:srgbClr val="d1d5db"/>
                      </a:solidFill>
                      <a:prstDash val="solid"/>
                    </a:lnT>
                    <a:lnB w="2880">
                      <a:solidFill>
                        <a:srgbClr val="d1d5db"/>
                      </a:solidFill>
                      <a:prstDash val="solid"/>
                    </a:lnB>
                    <a:noFill/>
                  </a:tcPr>
                </a:tc>
              </a:tr>
              <a:tr h="29196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segment_factor / factor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d1d5db"/>
                      </a:solidFill>
                      <a:prstDash val="solid"/>
                    </a:lnL>
                    <a:lnR w="2880">
                      <a:solidFill>
                        <a:srgbClr val="d1d5db"/>
                      </a:solidFill>
                      <a:prstDash val="solid"/>
                    </a:lnR>
                    <a:lnT w="2880">
                      <a:solidFill>
                        <a:srgbClr val="d1d5db"/>
                      </a:solidFill>
                      <a:prstDash val="solid"/>
                    </a:lnT>
                    <a:lnB w="2880">
                      <a:solidFill>
                        <a:srgbClr val="d1d5d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Delay multipliers per segment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d1d5db"/>
                      </a:solidFill>
                      <a:prstDash val="solid"/>
                    </a:lnL>
                    <a:lnR w="2880">
                      <a:solidFill>
                        <a:srgbClr val="d1d5db"/>
                      </a:solidFill>
                      <a:prstDash val="solid"/>
                    </a:lnR>
                    <a:lnT w="2880">
                      <a:solidFill>
                        <a:srgbClr val="d1d5db"/>
                      </a:solidFill>
                      <a:prstDash val="solid"/>
                    </a:lnT>
                    <a:lnB w="2880">
                      <a:solidFill>
                        <a:srgbClr val="d1d5d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2" name="Shape 18"/>
          <p:cNvSpPr/>
          <p:nvPr/>
        </p:nvSpPr>
        <p:spPr>
          <a:xfrm>
            <a:off x="5668920" y="2422440"/>
            <a:ext cx="3110040" cy="2470320"/>
          </a:xfrm>
          <a:prstGeom prst="roundRect">
            <a:avLst>
              <a:gd name="adj" fmla="val 3704"/>
            </a:avLst>
          </a:prstGeom>
          <a:solidFill>
            <a:srgbClr val="0a1628"/>
          </a:solidFill>
          <a:ln w="12600">
            <a:solidFill>
              <a:srgbClr val="00b4d8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9"/>
          <p:cNvSpPr/>
          <p:nvPr/>
        </p:nvSpPr>
        <p:spPr>
          <a:xfrm>
            <a:off x="5715000" y="2529360"/>
            <a:ext cx="30178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Train / Test Split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20"/>
          <p:cNvSpPr/>
          <p:nvPr/>
        </p:nvSpPr>
        <p:spPr>
          <a:xfrm>
            <a:off x="5807160" y="2909880"/>
            <a:ext cx="283356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Using built-in data column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(not random split)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21"/>
          <p:cNvSpPr/>
          <p:nvPr/>
        </p:nvSpPr>
        <p:spPr>
          <a:xfrm>
            <a:off x="5943600" y="3429000"/>
            <a:ext cx="1235160" cy="639720"/>
          </a:xfrm>
          <a:prstGeom prst="roundRect">
            <a:avLst>
              <a:gd name="adj" fmla="val 10000"/>
            </a:avLst>
          </a:prstGeom>
          <a:solidFill>
            <a:srgbClr val="2ecc71">
              <a:alpha val="70000"/>
            </a:srgbClr>
          </a:solidFill>
          <a:ln w="12600">
            <a:solidFill>
              <a:srgbClr val="2ecc7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2"/>
          <p:cNvSpPr/>
          <p:nvPr/>
        </p:nvSpPr>
        <p:spPr>
          <a:xfrm>
            <a:off x="5943600" y="3580920"/>
            <a:ext cx="12351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TRAIN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104,858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23"/>
          <p:cNvSpPr/>
          <p:nvPr/>
        </p:nvSpPr>
        <p:spPr>
          <a:xfrm>
            <a:off x="7315200" y="3429000"/>
            <a:ext cx="1235160" cy="639720"/>
          </a:xfrm>
          <a:prstGeom prst="roundRect">
            <a:avLst>
              <a:gd name="adj" fmla="val 10000"/>
            </a:avLst>
          </a:prstGeom>
          <a:solidFill>
            <a:srgbClr val="f39c12">
              <a:alpha val="70000"/>
            </a:srgbClr>
          </a:solidFill>
          <a:ln w="12600">
            <a:solidFill>
              <a:srgbClr val="f39c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24"/>
          <p:cNvSpPr/>
          <p:nvPr/>
        </p:nvSpPr>
        <p:spPr>
          <a:xfrm>
            <a:off x="7315200" y="3580920"/>
            <a:ext cx="12351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TEST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40,009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25"/>
          <p:cNvSpPr/>
          <p:nvPr/>
        </p:nvSpPr>
        <p:spPr>
          <a:xfrm>
            <a:off x="5715000" y="4221360"/>
            <a:ext cx="30178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72% training  |  28% test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503280" y="258840"/>
            <a:ext cx="813744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Graph Construction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503280" y="804240"/>
            <a:ext cx="81374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Modeling the entire logistics network as a directed weighted graph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365040" y="1279440"/>
            <a:ext cx="3841920" cy="714600"/>
          </a:xfrm>
          <a:prstGeom prst="roundRect">
            <a:avLst>
              <a:gd name="adj" fmla="val 10255"/>
            </a:avLst>
          </a:prstGeom>
          <a:solidFill>
            <a:srgbClr val="0d2137"/>
          </a:solidFill>
          <a:ln w="12600">
            <a:solidFill>
              <a:srgbClr val="00b4d8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503280" y="1407960"/>
            <a:ext cx="457200" cy="457200"/>
          </a:xfrm>
          <a:prstGeom prst="ellipse">
            <a:avLst/>
          </a:prstGeom>
          <a:solidFill>
            <a:srgbClr val="00b4d8"/>
          </a:solidFill>
          <a:ln w="12600">
            <a:solidFill>
              <a:srgbClr val="00b4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1096920" y="1324440"/>
            <a:ext cx="29257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Nodes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1096920" y="1596960"/>
            <a:ext cx="29257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1,657 facilities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365040" y="2149560"/>
            <a:ext cx="3841920" cy="712800"/>
          </a:xfrm>
          <a:prstGeom prst="roundRect">
            <a:avLst>
              <a:gd name="adj" fmla="val 10255"/>
            </a:avLst>
          </a:prstGeom>
          <a:solidFill>
            <a:srgbClr val="0d2137"/>
          </a:solidFill>
          <a:ln w="12600">
            <a:solidFill>
              <a:srgbClr val="2ecc71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7"/>
          <p:cNvSpPr/>
          <p:nvPr/>
        </p:nvSpPr>
        <p:spPr>
          <a:xfrm>
            <a:off x="503280" y="2276640"/>
            <a:ext cx="457200" cy="457200"/>
          </a:xfrm>
          <a:prstGeom prst="ellipse">
            <a:avLst/>
          </a:prstGeom>
          <a:solidFill>
            <a:srgbClr val="2ecc71"/>
          </a:solidFill>
          <a:ln w="12600">
            <a:solidFill>
              <a:srgbClr val="2ecc7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1096920" y="2192760"/>
            <a:ext cx="29257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2ecc71"/>
                </a:solidFill>
                <a:latin typeface="Calibri"/>
                <a:ea typeface="Calibri"/>
              </a:rPr>
              <a:t>Edges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1096920" y="2465280"/>
            <a:ext cx="29257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Shipment corridors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10"/>
          <p:cNvSpPr/>
          <p:nvPr/>
        </p:nvSpPr>
        <p:spPr>
          <a:xfrm>
            <a:off x="365040" y="3017880"/>
            <a:ext cx="3841920" cy="712800"/>
          </a:xfrm>
          <a:prstGeom prst="roundRect">
            <a:avLst>
              <a:gd name="adj" fmla="val 10255"/>
            </a:avLst>
          </a:prstGeom>
          <a:solidFill>
            <a:srgbClr val="0d2137"/>
          </a:solidFill>
          <a:ln w="12600">
            <a:solidFill>
              <a:srgbClr val="f39c12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1"/>
          <p:cNvSpPr/>
          <p:nvPr/>
        </p:nvSpPr>
        <p:spPr>
          <a:xfrm>
            <a:off x="503280" y="3144960"/>
            <a:ext cx="457200" cy="457200"/>
          </a:xfrm>
          <a:prstGeom prst="ellipse">
            <a:avLst/>
          </a:prstGeom>
          <a:solidFill>
            <a:srgbClr val="f39c12"/>
          </a:solidFill>
          <a:ln w="12600">
            <a:solidFill>
              <a:srgbClr val="f39c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1096920" y="3061080"/>
            <a:ext cx="29257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f39c12"/>
                </a:solidFill>
                <a:latin typeface="Calibri"/>
                <a:ea typeface="Calibri"/>
              </a:rPr>
              <a:t>Edge Weight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1096920" y="3333600"/>
            <a:ext cx="29257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Median delay ratio/corridor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4"/>
          <p:cNvSpPr/>
          <p:nvPr/>
        </p:nvSpPr>
        <p:spPr>
          <a:xfrm>
            <a:off x="365040" y="3886200"/>
            <a:ext cx="3841920" cy="712800"/>
          </a:xfrm>
          <a:prstGeom prst="roundRect">
            <a:avLst>
              <a:gd name="adj" fmla="val 10255"/>
            </a:avLst>
          </a:prstGeom>
          <a:solidFill>
            <a:srgbClr val="0d2137"/>
          </a:solidFill>
          <a:ln w="12600">
            <a:solidFill>
              <a:srgbClr val="9b59b6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5"/>
          <p:cNvSpPr/>
          <p:nvPr/>
        </p:nvSpPr>
        <p:spPr>
          <a:xfrm>
            <a:off x="503280" y="4014720"/>
            <a:ext cx="457200" cy="457200"/>
          </a:xfrm>
          <a:prstGeom prst="ellipse">
            <a:avLst/>
          </a:prstGeom>
          <a:solidFill>
            <a:srgbClr val="9b59b6"/>
          </a:solidFill>
          <a:ln w="12600">
            <a:solidFill>
              <a:srgbClr val="9b59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1096920" y="3930480"/>
            <a:ext cx="29257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9b59b6"/>
                </a:solidFill>
                <a:latin typeface="Calibri"/>
                <a:ea typeface="Calibri"/>
              </a:rPr>
              <a:t>Direction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7"/>
          <p:cNvSpPr/>
          <p:nvPr/>
        </p:nvSpPr>
        <p:spPr>
          <a:xfrm>
            <a:off x="1096920" y="4203000"/>
            <a:ext cx="29257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Source → Destination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8"/>
          <p:cNvSpPr/>
          <p:nvPr/>
        </p:nvSpPr>
        <p:spPr>
          <a:xfrm>
            <a:off x="365040" y="4664160"/>
            <a:ext cx="3841920" cy="365040"/>
          </a:xfrm>
          <a:prstGeom prst="roundRect">
            <a:avLst>
              <a:gd name="adj" fmla="val 15000"/>
            </a:avLst>
          </a:prstGeom>
          <a:solidFill>
            <a:srgbClr val="0d2137"/>
          </a:solidFill>
          <a:ln w="12600">
            <a:solidFill>
              <a:srgbClr val="1c729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9"/>
          <p:cNvSpPr/>
          <p:nvPr/>
        </p:nvSpPr>
        <p:spPr>
          <a:xfrm>
            <a:off x="411120" y="4731840"/>
            <a:ext cx="374976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 xml:space="preserve">🟢 </a:t>
            </a: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On-time  🟡 Delayed &gt;20%  🔴 Severely delayed &gt;50%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20"/>
          <p:cNvSpPr/>
          <p:nvPr/>
        </p:nvSpPr>
        <p:spPr>
          <a:xfrm>
            <a:off x="4479840" y="1189080"/>
            <a:ext cx="4299120" cy="3747960"/>
          </a:xfrm>
          <a:prstGeom prst="roundRect">
            <a:avLst>
              <a:gd name="adj" fmla="val 2440"/>
            </a:avLst>
          </a:prstGeom>
          <a:solidFill>
            <a:srgbClr val="0d2137"/>
          </a:solidFill>
          <a:ln w="12600">
            <a:solidFill>
              <a:srgbClr val="1c7293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21"/>
          <p:cNvSpPr/>
          <p:nvPr/>
        </p:nvSpPr>
        <p:spPr>
          <a:xfrm>
            <a:off x="4525920" y="1310400"/>
            <a:ext cx="420696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Graph Metrics Computed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22"/>
          <p:cNvSpPr/>
          <p:nvPr/>
        </p:nvSpPr>
        <p:spPr>
          <a:xfrm>
            <a:off x="4664160" y="1782720"/>
            <a:ext cx="3930480" cy="622440"/>
          </a:xfrm>
          <a:prstGeom prst="roundRect">
            <a:avLst>
              <a:gd name="adj" fmla="val 8824"/>
            </a:avLst>
          </a:prstGeom>
          <a:solidFill>
            <a:srgbClr val="0a1628"/>
          </a:solidFill>
          <a:ln w="12600">
            <a:solidFill>
              <a:srgbClr val="e74c3c">
                <a:alpha val="60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23"/>
          <p:cNvSpPr/>
          <p:nvPr/>
        </p:nvSpPr>
        <p:spPr>
          <a:xfrm>
            <a:off x="4800600" y="1811520"/>
            <a:ext cx="36576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alibri"/>
                <a:ea typeface="Calibri"/>
              </a:rPr>
              <a:t>Betweenness Centrality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4"/>
          <p:cNvSpPr/>
          <p:nvPr/>
        </p:nvSpPr>
        <p:spPr>
          <a:xfrm>
            <a:off x="4800600" y="2019960"/>
            <a:ext cx="365760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Which hubs sit on the most paths?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High = chokepoint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25"/>
          <p:cNvSpPr/>
          <p:nvPr/>
        </p:nvSpPr>
        <p:spPr>
          <a:xfrm>
            <a:off x="4664160" y="2533680"/>
            <a:ext cx="3930480" cy="620640"/>
          </a:xfrm>
          <a:prstGeom prst="roundRect">
            <a:avLst>
              <a:gd name="adj" fmla="val 8824"/>
            </a:avLst>
          </a:prstGeom>
          <a:solidFill>
            <a:srgbClr val="0a1628"/>
          </a:solidFill>
          <a:ln w="12600">
            <a:solidFill>
              <a:srgbClr val="f39c12">
                <a:alpha val="60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26"/>
          <p:cNvSpPr/>
          <p:nvPr/>
        </p:nvSpPr>
        <p:spPr>
          <a:xfrm>
            <a:off x="4800600" y="2562120"/>
            <a:ext cx="36576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f39c12"/>
                </a:solidFill>
                <a:latin typeface="Calibri"/>
                <a:ea typeface="Calibri"/>
              </a:rPr>
              <a:t>PageRank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27"/>
          <p:cNvSpPr/>
          <p:nvPr/>
        </p:nvSpPr>
        <p:spPr>
          <a:xfrm>
            <a:off x="4800600" y="2770200"/>
            <a:ext cx="365760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How important / influential is the hub?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High = critical hub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28"/>
          <p:cNvSpPr/>
          <p:nvPr/>
        </p:nvSpPr>
        <p:spPr>
          <a:xfrm>
            <a:off x="4664160" y="3282840"/>
            <a:ext cx="3930480" cy="622440"/>
          </a:xfrm>
          <a:prstGeom prst="roundRect">
            <a:avLst>
              <a:gd name="adj" fmla="val 8824"/>
            </a:avLst>
          </a:prstGeom>
          <a:solidFill>
            <a:srgbClr val="0a1628"/>
          </a:solidFill>
          <a:ln w="12600">
            <a:solidFill>
              <a:srgbClr val="2ecc71">
                <a:alpha val="60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29"/>
          <p:cNvSpPr/>
          <p:nvPr/>
        </p:nvSpPr>
        <p:spPr>
          <a:xfrm>
            <a:off x="4800600" y="3311640"/>
            <a:ext cx="36576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2ecc71"/>
                </a:solidFill>
                <a:latin typeface="Calibri"/>
                <a:ea typeface="Calibri"/>
              </a:rPr>
              <a:t>Degree Centrality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30"/>
          <p:cNvSpPr/>
          <p:nvPr/>
        </p:nvSpPr>
        <p:spPr>
          <a:xfrm>
            <a:off x="4800600" y="3520440"/>
            <a:ext cx="365760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How well connected is the hub?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In-degree + out-degree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31"/>
          <p:cNvSpPr/>
          <p:nvPr/>
        </p:nvSpPr>
        <p:spPr>
          <a:xfrm>
            <a:off x="4664160" y="4032360"/>
            <a:ext cx="3930480" cy="622080"/>
          </a:xfrm>
          <a:prstGeom prst="roundRect">
            <a:avLst>
              <a:gd name="adj" fmla="val 8824"/>
            </a:avLst>
          </a:prstGeom>
          <a:solidFill>
            <a:srgbClr val="0a1628"/>
          </a:solidFill>
          <a:ln w="12600">
            <a:solidFill>
              <a:srgbClr val="00b4d8">
                <a:alpha val="60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32"/>
          <p:cNvSpPr/>
          <p:nvPr/>
        </p:nvSpPr>
        <p:spPr>
          <a:xfrm>
            <a:off x="4800600" y="4060800"/>
            <a:ext cx="36576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Clustering Coefficient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33"/>
          <p:cNvSpPr/>
          <p:nvPr/>
        </p:nvSpPr>
        <p:spPr>
          <a:xfrm>
            <a:off x="4800600" y="4269600"/>
            <a:ext cx="365760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Is the hub in a tight local cluster?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Low = isolated, fragile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/>
          <p:nvPr/>
        </p:nvSpPr>
        <p:spPr>
          <a:xfrm>
            <a:off x="411120" y="228600"/>
            <a:ext cx="83217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a1628"/>
                </a:solidFill>
                <a:latin typeface="Cambria"/>
                <a:ea typeface="Cambria"/>
              </a:rPr>
              <a:t>Top 5 Bottleneck Hubs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411120" y="712800"/>
            <a:ext cx="83217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Ranked by betweenness centrality — with SLA breach contribution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6" name=""/>
          <p:cNvGraphicFramePr/>
          <p:nvPr/>
        </p:nvGraphicFramePr>
        <p:xfrm>
          <a:off x="365040" y="1096920"/>
          <a:ext cx="5943600" cy="2925720"/>
        </p:xfrm>
        <a:graphic>
          <a:graphicData uri="http://schemas.openxmlformats.org/drawingml/2006/table">
            <a:tbl>
              <a:tblPr/>
              <a:tblGrid>
                <a:gridCol w="1692360"/>
                <a:gridCol w="1006560"/>
                <a:gridCol w="1004760"/>
                <a:gridCol w="914400"/>
                <a:gridCol w="1325520"/>
              </a:tblGrid>
              <a:tr h="48744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Hub ID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Betweenness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SLA Breach%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Risk Level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Recommendation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</a:tr>
              <a:tr h="48888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</a:rPr>
                        <a:t>IND000000ACB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0.189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</a:rPr>
                        <a:t>97.0%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Arial"/>
                        </a:rPr>
                        <a:t xml:space="preserve">🔴 </a:t>
                      </a: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Critical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Capacity upgrade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</a:tr>
              <a:tr h="48744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e67e22"/>
                          </a:solidFill>
                          <a:latin typeface="Calibri"/>
                          <a:ea typeface="Calibri"/>
                        </a:rPr>
                        <a:t>IND562132AAA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0.111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</a:rPr>
                        <a:t>97.1%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Arial"/>
                        </a:rPr>
                        <a:t xml:space="preserve">🟠 </a:t>
                      </a: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High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Congestion monitoring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48744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f39c12"/>
                          </a:solidFill>
                          <a:latin typeface="Calibri"/>
                          <a:ea typeface="Calibri"/>
                        </a:rPr>
                        <a:t>IND501359AAE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0.080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</a:rPr>
                        <a:t>97.5%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Arial"/>
                        </a:rPr>
                        <a:t xml:space="preserve">🟠 </a:t>
                      </a: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High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Alternate routing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</a:tr>
              <a:tr h="48708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2ecc71"/>
                          </a:solidFill>
                          <a:latin typeface="Calibri"/>
                          <a:ea typeface="Calibri"/>
                        </a:rPr>
                        <a:t>IND712311AAA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0.063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</a:rPr>
                        <a:t>99.7%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Arial"/>
                        </a:rPr>
                        <a:t xml:space="preserve">🟡 </a:t>
                      </a: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Medium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Resource allocation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48744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3498db"/>
                          </a:solidFill>
                          <a:latin typeface="Calibri"/>
                          <a:ea typeface="Calibri"/>
                        </a:rPr>
                        <a:t>IND421302AAG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0.055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</a:rPr>
                        <a:t>99.4%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Arial"/>
                        </a:rPr>
                        <a:t xml:space="preserve">🟡 </a:t>
                      </a: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Medium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Backup route planning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</a:tr>
            </a:tbl>
          </a:graphicData>
        </a:graphic>
      </p:graphicFrame>
      <p:sp>
        <p:nvSpPr>
          <p:cNvPr id="147" name="Rectangle 4"/>
          <p:cNvSpPr/>
          <p:nvPr/>
        </p:nvSpPr>
        <p:spPr>
          <a:xfrm>
            <a:off x="365040" y="4160880"/>
            <a:ext cx="5943600" cy="914400"/>
          </a:xfrm>
          <a:prstGeom prst="rect">
            <a:avLst/>
          </a:prstGeom>
          <a:solidFill>
            <a:srgbClr val="0a1628"/>
          </a:solidFill>
          <a:ln w="6480">
            <a:solidFill>
              <a:srgbClr val="00b4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5"/>
          <p:cNvSpPr/>
          <p:nvPr/>
        </p:nvSpPr>
        <p:spPr>
          <a:xfrm>
            <a:off x="593640" y="4224240"/>
            <a:ext cx="5486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Arial"/>
              </a:rPr>
              <a:t xml:space="preserve">💡  </a:t>
            </a: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Key Insight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6"/>
          <p:cNvSpPr/>
          <p:nvPr/>
        </p:nvSpPr>
        <p:spPr>
          <a:xfrm>
            <a:off x="593640" y="4479840"/>
            <a:ext cx="548640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All top 5 hubs show &gt;97% SLA breach rates — confirming these are the highest-priority facilities for intervention. IND712311AAA at 99.7% is the worst performer despite lower betweenness.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"/>
          <p:cNvSpPr/>
          <p:nvPr/>
        </p:nvSpPr>
        <p:spPr>
          <a:xfrm>
            <a:off x="320760" y="165240"/>
            <a:ext cx="85024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Logistics Network — Bottleneck Hubs &amp; Delay Corridors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2"/>
          <p:cNvSpPr/>
          <p:nvPr/>
        </p:nvSpPr>
        <p:spPr>
          <a:xfrm>
            <a:off x="320760" y="593640"/>
            <a:ext cx="85024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Node size = Betweenness Centrality  |  Edge color = Delay Severity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Picture 3" descr="Picture 3"/>
          <p:cNvPicPr/>
          <p:nvPr/>
        </p:nvPicPr>
        <p:blipFill>
          <a:blip r:embed="rId1"/>
          <a:stretch/>
        </p:blipFill>
        <p:spPr>
          <a:xfrm>
            <a:off x="274680" y="895320"/>
            <a:ext cx="6583320" cy="3978360"/>
          </a:xfrm>
          <a:prstGeom prst="rect">
            <a:avLst/>
          </a:prstGeom>
          <a:ln w="0">
            <a:noFill/>
          </a:ln>
        </p:spPr>
      </p:pic>
      <p:sp>
        <p:nvSpPr>
          <p:cNvPr id="161" name="Rectangle 4"/>
          <p:cNvSpPr/>
          <p:nvPr/>
        </p:nvSpPr>
        <p:spPr>
          <a:xfrm>
            <a:off x="6994440" y="1006560"/>
            <a:ext cx="1920960" cy="438120"/>
          </a:xfrm>
          <a:prstGeom prst="rect">
            <a:avLst/>
          </a:prstGeom>
          <a:solidFill>
            <a:srgbClr val="0d2137"/>
          </a:solidFill>
          <a:ln w="6480">
            <a:solidFill>
              <a:srgbClr val="e74c3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Oval 5"/>
          <p:cNvSpPr/>
          <p:nvPr/>
        </p:nvSpPr>
        <p:spPr>
          <a:xfrm>
            <a:off x="7113600" y="1096920"/>
            <a:ext cx="257040" cy="255600"/>
          </a:xfrm>
          <a:prstGeom prst="ellipse">
            <a:avLst/>
          </a:prstGeom>
          <a:solidFill>
            <a:srgbClr val="e74c3c"/>
          </a:solidFill>
          <a:ln w="6480">
            <a:solidFill>
              <a:srgbClr val="e74c3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6"/>
          <p:cNvSpPr/>
          <p:nvPr/>
        </p:nvSpPr>
        <p:spPr>
          <a:xfrm>
            <a:off x="7470720" y="1060560"/>
            <a:ext cx="13255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e8f4f8"/>
                </a:solidFill>
                <a:latin typeface="Calibri"/>
                <a:ea typeface="Calibri"/>
              </a:rPr>
              <a:t>Top 5 Bottleneck Hubs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ectangle 7"/>
          <p:cNvSpPr/>
          <p:nvPr/>
        </p:nvSpPr>
        <p:spPr>
          <a:xfrm>
            <a:off x="6994440" y="1573200"/>
            <a:ext cx="1920960" cy="438120"/>
          </a:xfrm>
          <a:prstGeom prst="rect">
            <a:avLst/>
          </a:prstGeom>
          <a:solidFill>
            <a:srgbClr val="0d2137"/>
          </a:solidFill>
          <a:ln w="6480">
            <a:solidFill>
              <a:srgbClr val="f39c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Oval 8"/>
          <p:cNvSpPr/>
          <p:nvPr/>
        </p:nvSpPr>
        <p:spPr>
          <a:xfrm>
            <a:off x="7113600" y="1663560"/>
            <a:ext cx="257040" cy="257400"/>
          </a:xfrm>
          <a:prstGeom prst="ellipse">
            <a:avLst/>
          </a:prstGeom>
          <a:solidFill>
            <a:srgbClr val="f39c12"/>
          </a:solidFill>
          <a:ln w="6480">
            <a:solidFill>
              <a:srgbClr val="f39c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9"/>
          <p:cNvSpPr/>
          <p:nvPr/>
        </p:nvSpPr>
        <p:spPr>
          <a:xfrm>
            <a:off x="7470720" y="1627200"/>
            <a:ext cx="13255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e8f4f8"/>
                </a:solidFill>
                <a:latin typeface="Calibri"/>
                <a:ea typeface="Calibri"/>
              </a:rPr>
              <a:t>High Betweenness Hubs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ectangle 10"/>
          <p:cNvSpPr/>
          <p:nvPr/>
        </p:nvSpPr>
        <p:spPr>
          <a:xfrm>
            <a:off x="6994440" y="2139840"/>
            <a:ext cx="1920960" cy="438120"/>
          </a:xfrm>
          <a:prstGeom prst="rect">
            <a:avLst/>
          </a:prstGeom>
          <a:solidFill>
            <a:srgbClr val="0d2137"/>
          </a:solidFill>
          <a:ln w="6480">
            <a:solidFill>
              <a:srgbClr val="3498d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Oval 11"/>
          <p:cNvSpPr/>
          <p:nvPr/>
        </p:nvSpPr>
        <p:spPr>
          <a:xfrm>
            <a:off x="7113600" y="2230560"/>
            <a:ext cx="257040" cy="257040"/>
          </a:xfrm>
          <a:prstGeom prst="ellipse">
            <a:avLst/>
          </a:prstGeom>
          <a:solidFill>
            <a:srgbClr val="3498db"/>
          </a:solidFill>
          <a:ln w="6480">
            <a:solidFill>
              <a:srgbClr val="3498d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12"/>
          <p:cNvSpPr/>
          <p:nvPr/>
        </p:nvSpPr>
        <p:spPr>
          <a:xfrm>
            <a:off x="7470720" y="2193840"/>
            <a:ext cx="13255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e8f4f8"/>
                </a:solidFill>
                <a:latin typeface="Calibri"/>
                <a:ea typeface="Calibri"/>
              </a:rPr>
              <a:t>Normal Hubs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ectangle 13"/>
          <p:cNvSpPr/>
          <p:nvPr/>
        </p:nvSpPr>
        <p:spPr>
          <a:xfrm>
            <a:off x="6994440" y="2706840"/>
            <a:ext cx="1920960" cy="438120"/>
          </a:xfrm>
          <a:prstGeom prst="rect">
            <a:avLst/>
          </a:prstGeom>
          <a:solidFill>
            <a:srgbClr val="0d2137"/>
          </a:solidFill>
          <a:ln w="6480">
            <a:solidFill>
              <a:srgbClr val="e74c3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Oval 14"/>
          <p:cNvSpPr/>
          <p:nvPr/>
        </p:nvSpPr>
        <p:spPr>
          <a:xfrm>
            <a:off x="7113600" y="2798640"/>
            <a:ext cx="257040" cy="255600"/>
          </a:xfrm>
          <a:prstGeom prst="ellipse">
            <a:avLst/>
          </a:prstGeom>
          <a:solidFill>
            <a:srgbClr val="e74c3c"/>
          </a:solidFill>
          <a:ln w="6480">
            <a:solidFill>
              <a:srgbClr val="e74c3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15"/>
          <p:cNvSpPr/>
          <p:nvPr/>
        </p:nvSpPr>
        <p:spPr>
          <a:xfrm>
            <a:off x="7470720" y="2762280"/>
            <a:ext cx="13255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e8f4f8"/>
                </a:solidFill>
                <a:latin typeface="Calibri"/>
                <a:ea typeface="Calibri"/>
              </a:rPr>
              <a:t>Severely Delayed &gt;50%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ectangle 16"/>
          <p:cNvSpPr/>
          <p:nvPr/>
        </p:nvSpPr>
        <p:spPr>
          <a:xfrm>
            <a:off x="6994440" y="3273480"/>
            <a:ext cx="1920960" cy="439560"/>
          </a:xfrm>
          <a:prstGeom prst="rect">
            <a:avLst/>
          </a:prstGeom>
          <a:solidFill>
            <a:srgbClr val="0d2137"/>
          </a:solidFill>
          <a:ln w="6480">
            <a:solidFill>
              <a:srgbClr val="f39c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Oval 17"/>
          <p:cNvSpPr/>
          <p:nvPr/>
        </p:nvSpPr>
        <p:spPr>
          <a:xfrm>
            <a:off x="7113600" y="3365640"/>
            <a:ext cx="257040" cy="255600"/>
          </a:xfrm>
          <a:prstGeom prst="ellipse">
            <a:avLst/>
          </a:prstGeom>
          <a:solidFill>
            <a:srgbClr val="f39c12"/>
          </a:solidFill>
          <a:ln w="6480">
            <a:solidFill>
              <a:srgbClr val="f39c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18"/>
          <p:cNvSpPr/>
          <p:nvPr/>
        </p:nvSpPr>
        <p:spPr>
          <a:xfrm>
            <a:off x="7470720" y="3328920"/>
            <a:ext cx="13255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e8f4f8"/>
                </a:solidFill>
                <a:latin typeface="Calibri"/>
                <a:ea typeface="Calibri"/>
              </a:rPr>
              <a:t>Chronically Delayed &gt;20%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ectangle 19"/>
          <p:cNvSpPr/>
          <p:nvPr/>
        </p:nvSpPr>
        <p:spPr>
          <a:xfrm>
            <a:off x="6994440" y="3840120"/>
            <a:ext cx="1920960" cy="439920"/>
          </a:xfrm>
          <a:prstGeom prst="rect">
            <a:avLst/>
          </a:prstGeom>
          <a:solidFill>
            <a:srgbClr val="0d2137"/>
          </a:solidFill>
          <a:ln w="6480">
            <a:solidFill>
              <a:srgbClr val="2ecc7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Oval 20"/>
          <p:cNvSpPr/>
          <p:nvPr/>
        </p:nvSpPr>
        <p:spPr>
          <a:xfrm>
            <a:off x="7113600" y="3932280"/>
            <a:ext cx="257040" cy="255600"/>
          </a:xfrm>
          <a:prstGeom prst="ellipse">
            <a:avLst/>
          </a:prstGeom>
          <a:solidFill>
            <a:srgbClr val="2ecc71"/>
          </a:solidFill>
          <a:ln w="6480">
            <a:solidFill>
              <a:srgbClr val="2ecc7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21"/>
          <p:cNvSpPr/>
          <p:nvPr/>
        </p:nvSpPr>
        <p:spPr>
          <a:xfrm>
            <a:off x="7470720" y="3895560"/>
            <a:ext cx="13255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e8f4f8"/>
                </a:solidFill>
                <a:latin typeface="Calibri"/>
                <a:ea typeface="Calibri"/>
              </a:rPr>
              <a:t>On-Time Corridor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ectangle 22"/>
          <p:cNvSpPr/>
          <p:nvPr/>
        </p:nvSpPr>
        <p:spPr>
          <a:xfrm>
            <a:off x="274680" y="4645080"/>
            <a:ext cx="8594640" cy="384120"/>
          </a:xfrm>
          <a:prstGeom prst="rect">
            <a:avLst/>
          </a:prstGeom>
          <a:solidFill>
            <a:srgbClr val="0d2137"/>
          </a:solidFill>
          <a:ln w="6480">
            <a:solidFill>
              <a:srgbClr val="00b4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23"/>
          <p:cNvSpPr/>
          <p:nvPr/>
        </p:nvSpPr>
        <p:spPr>
          <a:xfrm>
            <a:off x="503280" y="4664160"/>
            <a:ext cx="822960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Arial"/>
              </a:rPr>
              <a:t xml:space="preserve">💡  </a:t>
            </a: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IND000000ACB sits at the center — largest node, most red corridors radiating from it. Highest priority for intervention.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Box 1"/>
          <p:cNvSpPr/>
          <p:nvPr/>
        </p:nvSpPr>
        <p:spPr>
          <a:xfrm>
            <a:off x="320760" y="165240"/>
            <a:ext cx="850248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Chronic Delay Corridors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2"/>
          <p:cNvSpPr/>
          <p:nvPr/>
        </p:nvSpPr>
        <p:spPr>
          <a:xfrm>
            <a:off x="320760" y="593640"/>
            <a:ext cx="85024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Only corridors where actual delivery time exceeds OSRM prediction by &gt;20%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3" name="Picture 3" descr="Picture 3"/>
          <p:cNvPicPr/>
          <p:nvPr/>
        </p:nvPicPr>
        <p:blipFill>
          <a:blip r:embed="rId1"/>
          <a:stretch/>
        </p:blipFill>
        <p:spPr>
          <a:xfrm>
            <a:off x="274680" y="895320"/>
            <a:ext cx="6218280" cy="3978360"/>
          </a:xfrm>
          <a:prstGeom prst="rect">
            <a:avLst/>
          </a:prstGeom>
          <a:ln w="0">
            <a:noFill/>
          </a:ln>
        </p:spPr>
      </p:pic>
      <p:sp>
        <p:nvSpPr>
          <p:cNvPr id="184" name="Rectangle 4"/>
          <p:cNvSpPr/>
          <p:nvPr/>
        </p:nvSpPr>
        <p:spPr>
          <a:xfrm>
            <a:off x="6675480" y="1050840"/>
            <a:ext cx="2193840" cy="1006560"/>
          </a:xfrm>
          <a:prstGeom prst="rect">
            <a:avLst/>
          </a:prstGeom>
          <a:solidFill>
            <a:srgbClr val="0d2137"/>
          </a:solidFill>
          <a:ln w="6480">
            <a:solidFill>
              <a:srgbClr val="f39c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5"/>
          <p:cNvSpPr/>
          <p:nvPr/>
        </p:nvSpPr>
        <p:spPr>
          <a:xfrm>
            <a:off x="6721560" y="1123920"/>
            <a:ext cx="210168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39c12"/>
                </a:solidFill>
                <a:latin typeface="Cambria"/>
                <a:ea typeface="Cambria"/>
              </a:rPr>
              <a:t>&gt;20%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6"/>
          <p:cNvSpPr/>
          <p:nvPr/>
        </p:nvSpPr>
        <p:spPr>
          <a:xfrm>
            <a:off x="6721560" y="1581120"/>
            <a:ext cx="210168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Delay threshold</a:t>
            </a:r>
            <a:br>
              <a:rPr sz="900"/>
            </a:b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for flagging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Rectangle 7"/>
          <p:cNvSpPr/>
          <p:nvPr/>
        </p:nvSpPr>
        <p:spPr>
          <a:xfrm>
            <a:off x="6675480" y="2286000"/>
            <a:ext cx="2193840" cy="1006560"/>
          </a:xfrm>
          <a:prstGeom prst="rect">
            <a:avLst/>
          </a:prstGeom>
          <a:solidFill>
            <a:srgbClr val="0d2137"/>
          </a:solidFill>
          <a:ln w="6480">
            <a:solidFill>
              <a:srgbClr val="e74c3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8"/>
          <p:cNvSpPr/>
          <p:nvPr/>
        </p:nvSpPr>
        <p:spPr>
          <a:xfrm>
            <a:off x="6721560" y="2359080"/>
            <a:ext cx="210168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e74c3c"/>
                </a:solidFill>
                <a:latin typeface="Cambria"/>
                <a:ea typeface="Cambria"/>
              </a:rPr>
              <a:t>&gt;50%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9"/>
          <p:cNvSpPr/>
          <p:nvPr/>
        </p:nvSpPr>
        <p:spPr>
          <a:xfrm>
            <a:off x="6721560" y="2816280"/>
            <a:ext cx="210168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Severely delayed</a:t>
            </a:r>
            <a:br>
              <a:rPr sz="900"/>
            </a:b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corridors (red)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ectangle 10"/>
          <p:cNvSpPr/>
          <p:nvPr/>
        </p:nvSpPr>
        <p:spPr>
          <a:xfrm>
            <a:off x="6675480" y="3521160"/>
            <a:ext cx="2193840" cy="1004760"/>
          </a:xfrm>
          <a:prstGeom prst="rect">
            <a:avLst/>
          </a:prstGeom>
          <a:solidFill>
            <a:srgbClr val="0d2137"/>
          </a:solidFill>
          <a:ln w="6480">
            <a:solidFill>
              <a:srgbClr val="9b59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11"/>
          <p:cNvSpPr/>
          <p:nvPr/>
        </p:nvSpPr>
        <p:spPr>
          <a:xfrm>
            <a:off x="6721560" y="3594240"/>
            <a:ext cx="210168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9b59b6"/>
                </a:solidFill>
                <a:latin typeface="Cambria"/>
                <a:ea typeface="Cambria"/>
              </a:rPr>
              <a:t>31.8x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12"/>
          <p:cNvSpPr/>
          <p:nvPr/>
        </p:nvSpPr>
        <p:spPr>
          <a:xfrm>
            <a:off x="6721560" y="4051440"/>
            <a:ext cx="210168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Worst corridor</a:t>
            </a:r>
            <a:br>
              <a:rPr sz="900"/>
            </a:b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delay ratio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ectangle 13"/>
          <p:cNvSpPr/>
          <p:nvPr/>
        </p:nvSpPr>
        <p:spPr>
          <a:xfrm>
            <a:off x="274680" y="4645080"/>
            <a:ext cx="8594640" cy="384120"/>
          </a:xfrm>
          <a:prstGeom prst="rect">
            <a:avLst/>
          </a:prstGeom>
          <a:solidFill>
            <a:srgbClr val="1a0505"/>
          </a:solidFill>
          <a:ln w="6480">
            <a:solidFill>
              <a:srgbClr val="e74c3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14"/>
          <p:cNvSpPr/>
          <p:nvPr/>
        </p:nvSpPr>
        <p:spPr>
          <a:xfrm>
            <a:off x="503280" y="4664160"/>
            <a:ext cx="822960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Arial"/>
              </a:rPr>
              <a:t xml:space="preserve">⚠  </a:t>
            </a: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Almost ALL corridors are chronically delayed — structural congestion is systemic, not isolated to a few routes.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 1"/>
          <p:cNvSpPr/>
          <p:nvPr/>
        </p:nvSpPr>
        <p:spPr>
          <a:xfrm>
            <a:off x="411120" y="228600"/>
            <a:ext cx="83217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a1628"/>
                </a:solidFill>
                <a:latin typeface="Cambria"/>
                <a:ea typeface="Cambria"/>
              </a:rPr>
              <a:t>Top Chronic Delay Corridors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2"/>
          <p:cNvSpPr/>
          <p:nvPr/>
        </p:nvSpPr>
        <p:spPr>
          <a:xfrm>
            <a:off x="411120" y="712800"/>
            <a:ext cx="83217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Corridors ranked by median delay ratio — actual time vs OSRM prediction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7" name=""/>
          <p:cNvGraphicFramePr/>
          <p:nvPr/>
        </p:nvGraphicFramePr>
        <p:xfrm>
          <a:off x="365040" y="1050840"/>
          <a:ext cx="6400800" cy="3292560"/>
        </p:xfrm>
        <a:graphic>
          <a:graphicData uri="http://schemas.openxmlformats.org/drawingml/2006/table">
            <a:tbl>
              <a:tblPr/>
              <a:tblGrid>
                <a:gridCol w="366840"/>
                <a:gridCol w="1828800"/>
                <a:gridCol w="1828800"/>
                <a:gridCol w="1004760"/>
                <a:gridCol w="1371600"/>
              </a:tblGrid>
              <a:tr h="41292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#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Source Hub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Destination Hub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Delay Ratio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Risk Level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</a:tr>
              <a:tr h="41112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IND212402AAA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IND211002AAB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</a:rPr>
                        <a:t>31.8x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Arial"/>
                        </a:rPr>
                        <a:t xml:space="preserve">🔴 </a:t>
                      </a: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Critical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</a:tr>
              <a:tr h="41112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IND785634AAA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IND785001AAA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</a:rPr>
                        <a:t>31.2x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Arial"/>
                        </a:rPr>
                        <a:t xml:space="preserve">🔴 </a:t>
                      </a: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Critical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41112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IND208012AAA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IND209304AAA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</a:rPr>
                        <a:t>27.2x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Arial"/>
                        </a:rPr>
                        <a:t xml:space="preserve">🔴 </a:t>
                      </a: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Critical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</a:tr>
              <a:tr h="41112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IND416606AAA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IND416510AAA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e67e22"/>
                          </a:solidFill>
                          <a:latin typeface="Calibri"/>
                          <a:ea typeface="Calibri"/>
                        </a:rPr>
                        <a:t>26.9x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Arial"/>
                        </a:rPr>
                        <a:t xml:space="preserve">🟠 </a:t>
                      </a: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Severe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41292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IND842003AAB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IND482002AAA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e67e22"/>
                          </a:solidFill>
                          <a:latin typeface="Calibri"/>
                          <a:ea typeface="Calibri"/>
                        </a:rPr>
                        <a:t>23.2x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Arial"/>
                        </a:rPr>
                        <a:t xml:space="preserve">🟠 </a:t>
                      </a: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Severe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</a:tr>
              <a:tr h="41112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IND424304AAC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IND424006AAA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e67e22"/>
                          </a:solidFill>
                          <a:latin typeface="Calibri"/>
                          <a:ea typeface="Calibri"/>
                        </a:rPr>
                        <a:t>22.3x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Arial"/>
                        </a:rPr>
                        <a:t xml:space="preserve">🟠 </a:t>
                      </a: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Severe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41112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IND425405AAA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IND424006AAA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f39c12"/>
                          </a:solidFill>
                          <a:latin typeface="Calibri"/>
                          <a:ea typeface="Calibri"/>
                        </a:rPr>
                        <a:t>21.9x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Arial"/>
                        </a:rPr>
                        <a:t xml:space="preserve">🟡 </a:t>
                      </a: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</a:rPr>
                        <a:t>High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</a:tr>
            </a:tbl>
          </a:graphicData>
        </a:graphic>
      </p:graphicFrame>
      <p:sp>
        <p:nvSpPr>
          <p:cNvPr id="198" name="Rectangle 4"/>
          <p:cNvSpPr/>
          <p:nvPr/>
        </p:nvSpPr>
        <p:spPr>
          <a:xfrm>
            <a:off x="6950160" y="1050840"/>
            <a:ext cx="1919160" cy="1371600"/>
          </a:xfrm>
          <a:prstGeom prst="rect">
            <a:avLst/>
          </a:prstGeom>
          <a:solidFill>
            <a:srgbClr val="0a1628"/>
          </a:solidFill>
          <a:ln w="6480">
            <a:solidFill>
              <a:srgbClr val="e74c3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5"/>
          <p:cNvSpPr/>
          <p:nvPr/>
        </p:nvSpPr>
        <p:spPr>
          <a:xfrm>
            <a:off x="6994440" y="1143000"/>
            <a:ext cx="18288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alibri"/>
                <a:ea typeface="Calibri"/>
              </a:rPr>
              <a:t>Worst Corridor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Box 6"/>
          <p:cNvSpPr/>
          <p:nvPr/>
        </p:nvSpPr>
        <p:spPr>
          <a:xfrm>
            <a:off x="6994440" y="1417680"/>
            <a:ext cx="182880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e74c3c"/>
                </a:solidFill>
                <a:latin typeface="Cambria"/>
                <a:ea typeface="Cambria"/>
              </a:rPr>
              <a:t>31.8x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Box 7"/>
          <p:cNvSpPr/>
          <p:nvPr/>
        </p:nvSpPr>
        <p:spPr>
          <a:xfrm>
            <a:off x="6994440" y="1855800"/>
            <a:ext cx="182880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delay ratio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Rectangle 8"/>
          <p:cNvSpPr/>
          <p:nvPr/>
        </p:nvSpPr>
        <p:spPr>
          <a:xfrm>
            <a:off x="6950160" y="2606760"/>
            <a:ext cx="1919160" cy="1371600"/>
          </a:xfrm>
          <a:prstGeom prst="rect">
            <a:avLst/>
          </a:prstGeom>
          <a:solidFill>
            <a:srgbClr val="0a1628"/>
          </a:solidFill>
          <a:ln w="6480">
            <a:solidFill>
              <a:srgbClr val="f39c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9"/>
          <p:cNvSpPr/>
          <p:nvPr/>
        </p:nvSpPr>
        <p:spPr>
          <a:xfrm>
            <a:off x="6994440" y="2697120"/>
            <a:ext cx="18288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f39c12"/>
                </a:solidFill>
                <a:latin typeface="Calibri"/>
                <a:ea typeface="Calibri"/>
              </a:rPr>
              <a:t>Meaning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10"/>
          <p:cNvSpPr/>
          <p:nvPr/>
        </p:nvSpPr>
        <p:spPr>
          <a:xfrm>
            <a:off x="7086600" y="3017880"/>
            <a:ext cx="164628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31.8x = actual time is 31x longer than OSRM predicted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Rectangle 11"/>
          <p:cNvSpPr/>
          <p:nvPr/>
        </p:nvSpPr>
        <p:spPr>
          <a:xfrm>
            <a:off x="365040" y="4525920"/>
            <a:ext cx="8413920" cy="503280"/>
          </a:xfrm>
          <a:prstGeom prst="rect">
            <a:avLst/>
          </a:prstGeom>
          <a:solidFill>
            <a:srgbClr val="0a1628"/>
          </a:solidFill>
          <a:ln w="6480">
            <a:solidFill>
              <a:srgbClr val="00b4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12"/>
          <p:cNvSpPr/>
          <p:nvPr/>
        </p:nvSpPr>
        <p:spPr>
          <a:xfrm>
            <a:off x="593640" y="4545000"/>
            <a:ext cx="80470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Recommendation: These corridors require immediate investigation — a 31x delay ratio suggests operational failures beyond normal congestion.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 0"/>
          <p:cNvSpPr/>
          <p:nvPr/>
        </p:nvSpPr>
        <p:spPr>
          <a:xfrm>
            <a:off x="503280" y="289800"/>
            <a:ext cx="8137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ETA Model — Baseline vs Graph-Enhanced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1"/>
          <p:cNvSpPr/>
          <p:nvPr/>
        </p:nvSpPr>
        <p:spPr>
          <a:xfrm>
            <a:off x="503280" y="795600"/>
            <a:ext cx="81374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Does graph intelligence improve predictions?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2"/>
          <p:cNvSpPr/>
          <p:nvPr/>
        </p:nvSpPr>
        <p:spPr>
          <a:xfrm>
            <a:off x="365040" y="1189080"/>
            <a:ext cx="2652840" cy="2560680"/>
          </a:xfrm>
          <a:prstGeom prst="roundRect">
            <a:avLst>
              <a:gd name="adj" fmla="val 3569"/>
            </a:avLst>
          </a:prstGeom>
          <a:solidFill>
            <a:srgbClr val="0d2137"/>
          </a:solidFill>
          <a:ln w="12600">
            <a:solidFill>
              <a:srgbClr val="94a3b8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3"/>
          <p:cNvSpPr/>
          <p:nvPr/>
        </p:nvSpPr>
        <p:spPr>
          <a:xfrm>
            <a:off x="639720" y="1298520"/>
            <a:ext cx="2103480" cy="292320"/>
          </a:xfrm>
          <a:prstGeom prst="roundRect">
            <a:avLst>
              <a:gd name="adj" fmla="val 15625"/>
            </a:avLst>
          </a:prstGeom>
          <a:solidFill>
            <a:srgbClr val="94a3b8">
              <a:alpha val="80000"/>
            </a:srgbClr>
          </a:solidFill>
          <a:ln w="12600">
            <a:solidFill>
              <a:srgbClr val="94a3b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4"/>
          <p:cNvSpPr/>
          <p:nvPr/>
        </p:nvSpPr>
        <p:spPr>
          <a:xfrm>
            <a:off x="639720" y="1375560"/>
            <a:ext cx="2103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Baseline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5"/>
          <p:cNvSpPr/>
          <p:nvPr/>
        </p:nvSpPr>
        <p:spPr>
          <a:xfrm>
            <a:off x="411120" y="1728000"/>
            <a:ext cx="25606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OSRM Raw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411120" y="2103120"/>
            <a:ext cx="25606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MAE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7"/>
          <p:cNvSpPr/>
          <p:nvPr/>
        </p:nvSpPr>
        <p:spPr>
          <a:xfrm>
            <a:off x="411120" y="2289240"/>
            <a:ext cx="25606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94a3b8"/>
                </a:solidFill>
                <a:latin typeface="Calibri"/>
                <a:ea typeface="Calibri"/>
              </a:rPr>
              <a:t>212.55 mins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8"/>
          <p:cNvSpPr/>
          <p:nvPr/>
        </p:nvSpPr>
        <p:spPr>
          <a:xfrm>
            <a:off x="411120" y="2742840"/>
            <a:ext cx="25606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% within 15%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9"/>
          <p:cNvSpPr/>
          <p:nvPr/>
        </p:nvSpPr>
        <p:spPr>
          <a:xfrm>
            <a:off x="411120" y="2936520"/>
            <a:ext cx="256068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94a3b8"/>
                </a:solidFill>
                <a:latin typeface="Calibri"/>
                <a:ea typeface="Calibri"/>
              </a:rPr>
              <a:t>N/A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10"/>
          <p:cNvSpPr/>
          <p:nvPr/>
        </p:nvSpPr>
        <p:spPr>
          <a:xfrm>
            <a:off x="3246480" y="1189080"/>
            <a:ext cx="2651040" cy="2560680"/>
          </a:xfrm>
          <a:prstGeom prst="roundRect">
            <a:avLst>
              <a:gd name="adj" fmla="val 3569"/>
            </a:avLst>
          </a:prstGeom>
          <a:solidFill>
            <a:srgbClr val="0d2137"/>
          </a:solidFill>
          <a:ln w="12600">
            <a:solidFill>
              <a:srgbClr val="f39c12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11"/>
          <p:cNvSpPr/>
          <p:nvPr/>
        </p:nvSpPr>
        <p:spPr>
          <a:xfrm>
            <a:off x="3521160" y="1298520"/>
            <a:ext cx="2101680" cy="292320"/>
          </a:xfrm>
          <a:prstGeom prst="roundRect">
            <a:avLst>
              <a:gd name="adj" fmla="val 15625"/>
            </a:avLst>
          </a:prstGeom>
          <a:solidFill>
            <a:srgbClr val="f39c12">
              <a:alpha val="80000"/>
            </a:srgbClr>
          </a:solidFill>
          <a:ln w="12600">
            <a:solidFill>
              <a:srgbClr val="f39c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2"/>
          <p:cNvSpPr/>
          <p:nvPr/>
        </p:nvSpPr>
        <p:spPr>
          <a:xfrm>
            <a:off x="3521160" y="1375560"/>
            <a:ext cx="21016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Our Baseline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13"/>
          <p:cNvSpPr/>
          <p:nvPr/>
        </p:nvSpPr>
        <p:spPr>
          <a:xfrm>
            <a:off x="3292560" y="1728000"/>
            <a:ext cx="25588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39c12"/>
                </a:solidFill>
                <a:latin typeface="Calibri"/>
                <a:ea typeface="Calibri"/>
              </a:rPr>
              <a:t>Baseline XGBoost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14"/>
          <p:cNvSpPr/>
          <p:nvPr/>
        </p:nvSpPr>
        <p:spPr>
          <a:xfrm>
            <a:off x="3292560" y="2103120"/>
            <a:ext cx="25588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MAE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3292560" y="2289240"/>
            <a:ext cx="25588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f39c12"/>
                </a:solidFill>
                <a:latin typeface="Calibri"/>
                <a:ea typeface="Calibri"/>
              </a:rPr>
              <a:t>7.26 mins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6"/>
          <p:cNvSpPr/>
          <p:nvPr/>
        </p:nvSpPr>
        <p:spPr>
          <a:xfrm>
            <a:off x="3292560" y="2742840"/>
            <a:ext cx="25588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% within 15%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7"/>
          <p:cNvSpPr/>
          <p:nvPr/>
        </p:nvSpPr>
        <p:spPr>
          <a:xfrm>
            <a:off x="3292560" y="2936520"/>
            <a:ext cx="255888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39c12"/>
                </a:solidFill>
                <a:latin typeface="Calibri"/>
                <a:ea typeface="Calibri"/>
              </a:rPr>
              <a:t>98.82%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8"/>
          <p:cNvSpPr/>
          <p:nvPr/>
        </p:nvSpPr>
        <p:spPr>
          <a:xfrm>
            <a:off x="6126120" y="1189080"/>
            <a:ext cx="2652840" cy="2560680"/>
          </a:xfrm>
          <a:prstGeom prst="roundRect">
            <a:avLst>
              <a:gd name="adj" fmla="val 3569"/>
            </a:avLst>
          </a:prstGeom>
          <a:solidFill>
            <a:srgbClr val="0d2137"/>
          </a:solidFill>
          <a:ln w="12600">
            <a:solidFill>
              <a:srgbClr val="00b4d8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19"/>
          <p:cNvSpPr/>
          <p:nvPr/>
        </p:nvSpPr>
        <p:spPr>
          <a:xfrm>
            <a:off x="6400800" y="1298520"/>
            <a:ext cx="2103480" cy="292320"/>
          </a:xfrm>
          <a:prstGeom prst="roundRect">
            <a:avLst>
              <a:gd name="adj" fmla="val 15625"/>
            </a:avLst>
          </a:prstGeom>
          <a:solidFill>
            <a:srgbClr val="00b4d8">
              <a:alpha val="80000"/>
            </a:srgbClr>
          </a:solidFill>
          <a:ln w="12600">
            <a:solidFill>
              <a:srgbClr val="00b4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20"/>
          <p:cNvSpPr/>
          <p:nvPr/>
        </p:nvSpPr>
        <p:spPr>
          <a:xfrm>
            <a:off x="6400800" y="1375560"/>
            <a:ext cx="2103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Graph Model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21"/>
          <p:cNvSpPr/>
          <p:nvPr/>
        </p:nvSpPr>
        <p:spPr>
          <a:xfrm>
            <a:off x="6172200" y="1728000"/>
            <a:ext cx="25606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Graph-Enhanced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22"/>
          <p:cNvSpPr/>
          <p:nvPr/>
        </p:nvSpPr>
        <p:spPr>
          <a:xfrm>
            <a:off x="6172200" y="2103120"/>
            <a:ext cx="25606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MAE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23"/>
          <p:cNvSpPr/>
          <p:nvPr/>
        </p:nvSpPr>
        <p:spPr>
          <a:xfrm>
            <a:off x="6172200" y="2289240"/>
            <a:ext cx="25606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b4d8"/>
                </a:solidFill>
                <a:latin typeface="Calibri"/>
                <a:ea typeface="Calibri"/>
              </a:rPr>
              <a:t>6.90 mins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24"/>
          <p:cNvSpPr/>
          <p:nvPr/>
        </p:nvSpPr>
        <p:spPr>
          <a:xfrm>
            <a:off x="6172200" y="2742840"/>
            <a:ext cx="25606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% within 15%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25"/>
          <p:cNvSpPr/>
          <p:nvPr/>
        </p:nvSpPr>
        <p:spPr>
          <a:xfrm>
            <a:off x="6172200" y="2936520"/>
            <a:ext cx="256068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b4d8"/>
                </a:solidFill>
                <a:latin typeface="Calibri"/>
                <a:ea typeface="Calibri"/>
              </a:rPr>
              <a:t>98.77%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26"/>
          <p:cNvSpPr/>
          <p:nvPr/>
        </p:nvSpPr>
        <p:spPr>
          <a:xfrm>
            <a:off x="365040" y="3932280"/>
            <a:ext cx="4114800" cy="868320"/>
          </a:xfrm>
          <a:prstGeom prst="roundRect">
            <a:avLst>
              <a:gd name="adj" fmla="val 10528"/>
            </a:avLst>
          </a:prstGeom>
          <a:solidFill>
            <a:srgbClr val="00b4d8">
              <a:alpha val="15000"/>
            </a:srgbClr>
          </a:solidFill>
          <a:ln w="12600">
            <a:solidFill>
              <a:srgbClr val="00b4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27"/>
          <p:cNvSpPr/>
          <p:nvPr/>
        </p:nvSpPr>
        <p:spPr>
          <a:xfrm>
            <a:off x="593640" y="4011840"/>
            <a:ext cx="36576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 xml:space="preserve">📈  </a:t>
            </a: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Graph Advantage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28"/>
          <p:cNvSpPr/>
          <p:nvPr/>
        </p:nvSpPr>
        <p:spPr>
          <a:xfrm>
            <a:off x="593640" y="4281480"/>
            <a:ext cx="365760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4.96% MAE reduction — graph structure adds measurable predictive value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29"/>
          <p:cNvSpPr/>
          <p:nvPr/>
        </p:nvSpPr>
        <p:spPr>
          <a:xfrm>
            <a:off x="4664160" y="3932280"/>
            <a:ext cx="4114800" cy="868320"/>
          </a:xfrm>
          <a:prstGeom prst="roundRect">
            <a:avLst>
              <a:gd name="adj" fmla="val 10528"/>
            </a:avLst>
          </a:prstGeom>
          <a:solidFill>
            <a:srgbClr val="f39c12">
              <a:alpha val="15000"/>
            </a:srgbClr>
          </a:solidFill>
          <a:ln w="12600">
            <a:solidFill>
              <a:srgbClr val="f39c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30"/>
          <p:cNvSpPr/>
          <p:nvPr/>
        </p:nvSpPr>
        <p:spPr>
          <a:xfrm>
            <a:off x="4892760" y="4011840"/>
            <a:ext cx="36576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f39c12"/>
                </a:solidFill>
                <a:latin typeface="Calibri"/>
                <a:ea typeface="Calibri"/>
              </a:rPr>
              <a:t xml:space="preserve">📊  </a:t>
            </a:r>
            <a:r>
              <a:rPr b="1" lang="en-US" sz="1100" spc="-1" strike="noStrike">
                <a:solidFill>
                  <a:srgbClr val="f39c12"/>
                </a:solidFill>
                <a:latin typeface="Calibri"/>
                <a:ea typeface="Calibri"/>
              </a:rPr>
              <a:t>Near-Ceiling Baseline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31"/>
          <p:cNvSpPr/>
          <p:nvPr/>
        </p:nvSpPr>
        <p:spPr>
          <a:xfrm>
            <a:off x="4892760" y="4281480"/>
            <a:ext cx="365760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Baseline achieves 98.82% within 15% — minimal room to improve this metric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0"/>
          <p:cNvSpPr/>
          <p:nvPr/>
        </p:nvSpPr>
        <p:spPr>
          <a:xfrm>
            <a:off x="503280" y="289800"/>
            <a:ext cx="8137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Revenue Impact — Fixing Top 3 Hubs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1"/>
          <p:cNvSpPr/>
          <p:nvPr/>
        </p:nvSpPr>
        <p:spPr>
          <a:xfrm>
            <a:off x="503280" y="795600"/>
            <a:ext cx="81374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Quantifying the business case for targeted hub interventions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"/>
          <p:cNvSpPr/>
          <p:nvPr/>
        </p:nvSpPr>
        <p:spPr>
          <a:xfrm>
            <a:off x="365040" y="1235160"/>
            <a:ext cx="2652840" cy="1919160"/>
          </a:xfrm>
          <a:prstGeom prst="roundRect">
            <a:avLst>
              <a:gd name="adj" fmla="val 5713"/>
            </a:avLst>
          </a:prstGeom>
          <a:solidFill>
            <a:srgbClr val="0d2137"/>
          </a:solidFill>
          <a:ln w="12600">
            <a:solidFill>
              <a:srgbClr val="00b4d8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3"/>
          <p:cNvSpPr/>
          <p:nvPr/>
        </p:nvSpPr>
        <p:spPr>
          <a:xfrm>
            <a:off x="411120" y="1402560"/>
            <a:ext cx="256068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b4d8"/>
                </a:solidFill>
                <a:latin typeface="Cambria"/>
                <a:ea typeface="Cambria"/>
              </a:rPr>
              <a:t>39.9%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4"/>
          <p:cNvSpPr/>
          <p:nvPr/>
        </p:nvSpPr>
        <p:spPr>
          <a:xfrm>
            <a:off x="411120" y="2297880"/>
            <a:ext cx="256068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of all trips pass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through top 3 hubs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5"/>
          <p:cNvSpPr/>
          <p:nvPr/>
        </p:nvSpPr>
        <p:spPr>
          <a:xfrm>
            <a:off x="3246480" y="1235160"/>
            <a:ext cx="2651040" cy="1919160"/>
          </a:xfrm>
          <a:prstGeom prst="roundRect">
            <a:avLst>
              <a:gd name="adj" fmla="val 5713"/>
            </a:avLst>
          </a:prstGeom>
          <a:solidFill>
            <a:srgbClr val="0d2137"/>
          </a:solidFill>
          <a:ln w="12600">
            <a:solidFill>
              <a:srgbClr val="e74c3c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6"/>
          <p:cNvSpPr/>
          <p:nvPr/>
        </p:nvSpPr>
        <p:spPr>
          <a:xfrm>
            <a:off x="3292560" y="1402560"/>
            <a:ext cx="255888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e74c3c"/>
                </a:solidFill>
                <a:latin typeface="Cambria"/>
                <a:ea typeface="Cambria"/>
              </a:rPr>
              <a:t>96.7%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7"/>
          <p:cNvSpPr/>
          <p:nvPr/>
        </p:nvSpPr>
        <p:spPr>
          <a:xfrm>
            <a:off x="3292560" y="2297880"/>
            <a:ext cx="255888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of those trips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are currently delayed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8"/>
          <p:cNvSpPr/>
          <p:nvPr/>
        </p:nvSpPr>
        <p:spPr>
          <a:xfrm>
            <a:off x="6126120" y="1235160"/>
            <a:ext cx="2652840" cy="1919160"/>
          </a:xfrm>
          <a:prstGeom prst="roundRect">
            <a:avLst>
              <a:gd name="adj" fmla="val 5713"/>
            </a:avLst>
          </a:prstGeom>
          <a:solidFill>
            <a:srgbClr val="0d2137"/>
          </a:solidFill>
          <a:ln w="12600">
            <a:solidFill>
              <a:srgbClr val="2ecc71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9"/>
          <p:cNvSpPr/>
          <p:nvPr/>
        </p:nvSpPr>
        <p:spPr>
          <a:xfrm>
            <a:off x="6172200" y="1402560"/>
            <a:ext cx="256068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2ecc71"/>
                </a:solidFill>
                <a:latin typeface="Cambria"/>
                <a:ea typeface="Cambria"/>
              </a:rPr>
              <a:t>40.8%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10"/>
          <p:cNvSpPr/>
          <p:nvPr/>
        </p:nvSpPr>
        <p:spPr>
          <a:xfrm>
            <a:off x="6172200" y="2297880"/>
            <a:ext cx="256068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reduction in late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deliveries if hubs fixed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11"/>
          <p:cNvSpPr/>
          <p:nvPr/>
        </p:nvSpPr>
        <p:spPr>
          <a:xfrm>
            <a:off x="503280" y="3345480"/>
            <a:ext cx="81374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Recommended Interventions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1" name=""/>
          <p:cNvGraphicFramePr/>
          <p:nvPr/>
        </p:nvGraphicFramePr>
        <p:xfrm>
          <a:off x="365040" y="3703680"/>
          <a:ext cx="8413920" cy="1096920"/>
        </p:xfrm>
        <a:graphic>
          <a:graphicData uri="http://schemas.openxmlformats.org/drawingml/2006/table">
            <a:tbl>
              <a:tblPr/>
              <a:tblGrid>
                <a:gridCol w="1828800"/>
                <a:gridCol w="1098720"/>
                <a:gridCol w="2011320"/>
                <a:gridCol w="3475080"/>
              </a:tblGrid>
              <a:tr h="27468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Hub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1c3a5e"/>
                      </a:solidFill>
                      <a:prstDash val="solid"/>
                    </a:lnL>
                    <a:lnR w="2880">
                      <a:solidFill>
                        <a:srgbClr val="1c3a5e"/>
                      </a:solidFill>
                      <a:prstDash val="solid"/>
                    </a:lnR>
                    <a:lnT w="2880">
                      <a:solidFill>
                        <a:srgbClr val="1c3a5e"/>
                      </a:solidFill>
                      <a:prstDash val="solid"/>
                    </a:lnT>
                    <a:lnB w="2880">
                      <a:solidFill>
                        <a:srgbClr val="1c3a5e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Betweenness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1c3a5e"/>
                      </a:solidFill>
                      <a:prstDash val="solid"/>
                    </a:lnL>
                    <a:lnR w="2880">
                      <a:solidFill>
                        <a:srgbClr val="1c3a5e"/>
                      </a:solidFill>
                      <a:prstDash val="solid"/>
                    </a:lnR>
                    <a:lnT w="2880">
                      <a:solidFill>
                        <a:srgbClr val="1c3a5e"/>
                      </a:solidFill>
                      <a:prstDash val="solid"/>
                    </a:lnT>
                    <a:lnB w="2880">
                      <a:solidFill>
                        <a:srgbClr val="1c3a5e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Action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1c3a5e"/>
                      </a:solidFill>
                      <a:prstDash val="solid"/>
                    </a:lnL>
                    <a:lnR w="2880">
                      <a:solidFill>
                        <a:srgbClr val="1c3a5e"/>
                      </a:solidFill>
                      <a:prstDash val="solid"/>
                    </a:lnR>
                    <a:lnT w="2880">
                      <a:solidFill>
                        <a:srgbClr val="1c3a5e"/>
                      </a:solidFill>
                      <a:prstDash val="solid"/>
                    </a:lnT>
                    <a:lnB w="2880">
                      <a:solidFill>
                        <a:srgbClr val="1c3a5e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Expected Impact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1c3a5e"/>
                      </a:solidFill>
                      <a:prstDash val="solid"/>
                    </a:lnL>
                    <a:lnR w="2880">
                      <a:solidFill>
                        <a:srgbClr val="1c3a5e"/>
                      </a:solidFill>
                      <a:prstDash val="solid"/>
                    </a:lnR>
                    <a:lnT w="2880">
                      <a:solidFill>
                        <a:srgbClr val="1c3a5e"/>
                      </a:solidFill>
                      <a:prstDash val="solid"/>
                    </a:lnT>
                    <a:lnB w="2880">
                      <a:solidFill>
                        <a:srgbClr val="1c3a5e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</a:tr>
              <a:tr h="27288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e8f4f8"/>
                          </a:solidFill>
                          <a:latin typeface="Calibri"/>
                          <a:ea typeface="Calibri"/>
                        </a:rPr>
                        <a:t>IND000000ACB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1c3a5e"/>
                      </a:solidFill>
                      <a:prstDash val="solid"/>
                    </a:lnL>
                    <a:lnR w="2880">
                      <a:solidFill>
                        <a:srgbClr val="1c3a5e"/>
                      </a:solidFill>
                      <a:prstDash val="solid"/>
                    </a:lnR>
                    <a:lnT w="2880">
                      <a:solidFill>
                        <a:srgbClr val="1c3a5e"/>
                      </a:solidFill>
                      <a:prstDash val="solid"/>
                    </a:lnT>
                    <a:lnB w="2880">
                      <a:solidFill>
                        <a:srgbClr val="1c3a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e8f4f8"/>
                          </a:solidFill>
                          <a:latin typeface="Calibri"/>
                          <a:ea typeface="Calibri"/>
                        </a:rPr>
                        <a:t>0.189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1c3a5e"/>
                      </a:solidFill>
                      <a:prstDash val="solid"/>
                    </a:lnL>
                    <a:lnR w="2880">
                      <a:solidFill>
                        <a:srgbClr val="1c3a5e"/>
                      </a:solidFill>
                      <a:prstDash val="solid"/>
                    </a:lnR>
                    <a:lnT w="2880">
                      <a:solidFill>
                        <a:srgbClr val="1c3a5e"/>
                      </a:solidFill>
                      <a:prstDash val="solid"/>
                    </a:lnT>
                    <a:lnB w="2880">
                      <a:solidFill>
                        <a:srgbClr val="1c3a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e8f4f8"/>
                          </a:solidFill>
                          <a:latin typeface="Calibri"/>
                          <a:ea typeface="Calibri"/>
                        </a:rPr>
                        <a:t>Capacity upgrade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1c3a5e"/>
                      </a:solidFill>
                      <a:prstDash val="solid"/>
                    </a:lnL>
                    <a:lnR w="2880">
                      <a:solidFill>
                        <a:srgbClr val="1c3a5e"/>
                      </a:solidFill>
                      <a:prstDash val="solid"/>
                    </a:lnR>
                    <a:lnT w="2880">
                      <a:solidFill>
                        <a:srgbClr val="1c3a5e"/>
                      </a:solidFill>
                      <a:prstDash val="solid"/>
                    </a:lnT>
                    <a:lnB w="2880">
                      <a:solidFill>
                        <a:srgbClr val="1c3a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e8f4f8"/>
                          </a:solidFill>
                          <a:latin typeface="Calibri"/>
                          <a:ea typeface="Calibri"/>
                        </a:rPr>
                        <a:t>Highest ROI — reduces cascade delays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1c3a5e"/>
                      </a:solidFill>
                      <a:prstDash val="solid"/>
                    </a:lnL>
                    <a:lnR w="2880">
                      <a:solidFill>
                        <a:srgbClr val="1c3a5e"/>
                      </a:solidFill>
                      <a:prstDash val="solid"/>
                    </a:lnR>
                    <a:lnT w="2880">
                      <a:solidFill>
                        <a:srgbClr val="1c3a5e"/>
                      </a:solidFill>
                      <a:prstDash val="solid"/>
                    </a:lnT>
                    <a:lnB w="2880">
                      <a:solidFill>
                        <a:srgbClr val="1c3a5e"/>
                      </a:solidFill>
                      <a:prstDash val="solid"/>
                    </a:lnB>
                    <a:noFill/>
                  </a:tcPr>
                </a:tc>
              </a:tr>
              <a:tr h="27468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e8f4f8"/>
                          </a:solidFill>
                          <a:latin typeface="Calibri"/>
                          <a:ea typeface="Calibri"/>
                        </a:rPr>
                        <a:t>IND562132AAA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1c3a5e"/>
                      </a:solidFill>
                      <a:prstDash val="solid"/>
                    </a:lnL>
                    <a:lnR w="2880">
                      <a:solidFill>
                        <a:srgbClr val="1c3a5e"/>
                      </a:solidFill>
                      <a:prstDash val="solid"/>
                    </a:lnR>
                    <a:lnT w="2880">
                      <a:solidFill>
                        <a:srgbClr val="1c3a5e"/>
                      </a:solidFill>
                      <a:prstDash val="solid"/>
                    </a:lnT>
                    <a:lnB w="2880">
                      <a:solidFill>
                        <a:srgbClr val="1c3a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e8f4f8"/>
                          </a:solidFill>
                          <a:latin typeface="Calibri"/>
                          <a:ea typeface="Calibri"/>
                        </a:rPr>
                        <a:t>0.111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1c3a5e"/>
                      </a:solidFill>
                      <a:prstDash val="solid"/>
                    </a:lnL>
                    <a:lnR w="2880">
                      <a:solidFill>
                        <a:srgbClr val="1c3a5e"/>
                      </a:solidFill>
                      <a:prstDash val="solid"/>
                    </a:lnR>
                    <a:lnT w="2880">
                      <a:solidFill>
                        <a:srgbClr val="1c3a5e"/>
                      </a:solidFill>
                      <a:prstDash val="solid"/>
                    </a:lnT>
                    <a:lnB w="2880">
                      <a:solidFill>
                        <a:srgbClr val="1c3a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e8f4f8"/>
                          </a:solidFill>
                          <a:latin typeface="Calibri"/>
                          <a:ea typeface="Calibri"/>
                        </a:rPr>
                        <a:t>Congestion monitoring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1c3a5e"/>
                      </a:solidFill>
                      <a:prstDash val="solid"/>
                    </a:lnL>
                    <a:lnR w="2880">
                      <a:solidFill>
                        <a:srgbClr val="1c3a5e"/>
                      </a:solidFill>
                      <a:prstDash val="solid"/>
                    </a:lnR>
                    <a:lnT w="2880">
                      <a:solidFill>
                        <a:srgbClr val="1c3a5e"/>
                      </a:solidFill>
                      <a:prstDash val="solid"/>
                    </a:lnT>
                    <a:lnB w="2880">
                      <a:solidFill>
                        <a:srgbClr val="1c3a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e8f4f8"/>
                          </a:solidFill>
                          <a:latin typeface="Calibri"/>
                          <a:ea typeface="Calibri"/>
                        </a:rPr>
                        <a:t>Reduce delay propagation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1c3a5e"/>
                      </a:solidFill>
                      <a:prstDash val="solid"/>
                    </a:lnL>
                    <a:lnR w="2880">
                      <a:solidFill>
                        <a:srgbClr val="1c3a5e"/>
                      </a:solidFill>
                      <a:prstDash val="solid"/>
                    </a:lnR>
                    <a:lnT w="2880">
                      <a:solidFill>
                        <a:srgbClr val="1c3a5e"/>
                      </a:solidFill>
                      <a:prstDash val="solid"/>
                    </a:lnT>
                    <a:lnB w="2880">
                      <a:solidFill>
                        <a:srgbClr val="1c3a5e"/>
                      </a:solidFill>
                      <a:prstDash val="solid"/>
                    </a:lnB>
                    <a:noFill/>
                  </a:tcPr>
                </a:tc>
              </a:tr>
              <a:tr h="274680"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e8f4f8"/>
                          </a:solidFill>
                          <a:latin typeface="Calibri"/>
                          <a:ea typeface="Calibri"/>
                        </a:rPr>
                        <a:t>IND501359AAE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1c3a5e"/>
                      </a:solidFill>
                      <a:prstDash val="solid"/>
                    </a:lnL>
                    <a:lnR w="2880">
                      <a:solidFill>
                        <a:srgbClr val="1c3a5e"/>
                      </a:solidFill>
                      <a:prstDash val="solid"/>
                    </a:lnR>
                    <a:lnT w="2880">
                      <a:solidFill>
                        <a:srgbClr val="1c3a5e"/>
                      </a:solidFill>
                      <a:prstDash val="solid"/>
                    </a:lnT>
                    <a:lnB w="2880">
                      <a:solidFill>
                        <a:srgbClr val="1c3a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e8f4f8"/>
                          </a:solidFill>
                          <a:latin typeface="Calibri"/>
                          <a:ea typeface="Calibri"/>
                        </a:rPr>
                        <a:t>0.080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1c3a5e"/>
                      </a:solidFill>
                      <a:prstDash val="solid"/>
                    </a:lnL>
                    <a:lnR w="2880">
                      <a:solidFill>
                        <a:srgbClr val="1c3a5e"/>
                      </a:solidFill>
                      <a:prstDash val="solid"/>
                    </a:lnR>
                    <a:lnT w="2880">
                      <a:solidFill>
                        <a:srgbClr val="1c3a5e"/>
                      </a:solidFill>
                      <a:prstDash val="solid"/>
                    </a:lnT>
                    <a:lnB w="2880">
                      <a:solidFill>
                        <a:srgbClr val="1c3a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e8f4f8"/>
                          </a:solidFill>
                          <a:latin typeface="Calibri"/>
                          <a:ea typeface="Calibri"/>
                        </a:rPr>
                        <a:t>Alternate routing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1c3a5e"/>
                      </a:solidFill>
                      <a:prstDash val="solid"/>
                    </a:lnL>
                    <a:lnR w="2880">
                      <a:solidFill>
                        <a:srgbClr val="1c3a5e"/>
                      </a:solidFill>
                      <a:prstDash val="solid"/>
                    </a:lnR>
                    <a:lnT w="2880">
                      <a:solidFill>
                        <a:srgbClr val="1c3a5e"/>
                      </a:solidFill>
                      <a:prstDash val="solid"/>
                    </a:lnT>
                    <a:lnB w="2880">
                      <a:solidFill>
                        <a:srgbClr val="1c3a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e8f4f8"/>
                          </a:solidFill>
                          <a:latin typeface="Calibri"/>
                          <a:ea typeface="Calibri"/>
                        </a:rPr>
                        <a:t>Improved ETA stability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2880">
                      <a:solidFill>
                        <a:srgbClr val="1c3a5e"/>
                      </a:solidFill>
                      <a:prstDash val="solid"/>
                    </a:lnL>
                    <a:lnR w="2880">
                      <a:solidFill>
                        <a:srgbClr val="1c3a5e"/>
                      </a:solidFill>
                      <a:prstDash val="solid"/>
                    </a:lnR>
                    <a:lnT w="2880">
                      <a:solidFill>
                        <a:srgbClr val="1c3a5e"/>
                      </a:solidFill>
                      <a:prstDash val="solid"/>
                    </a:lnT>
                    <a:lnB w="2880">
                      <a:solidFill>
                        <a:srgbClr val="1c3a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0"/>
          <p:cNvSpPr/>
          <p:nvPr/>
        </p:nvSpPr>
        <p:spPr>
          <a:xfrm>
            <a:off x="503280" y="258840"/>
            <a:ext cx="813744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a1628"/>
                </a:solidFill>
                <a:latin typeface="Cambria"/>
                <a:ea typeface="Cambria"/>
              </a:rPr>
              <a:t>Operational Recommendations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1"/>
          <p:cNvSpPr/>
          <p:nvPr/>
        </p:nvSpPr>
        <p:spPr>
          <a:xfrm>
            <a:off x="503280" y="802800"/>
            <a:ext cx="81374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What operations should do — and when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2"/>
          <p:cNvSpPr/>
          <p:nvPr/>
        </p:nvSpPr>
        <p:spPr>
          <a:xfrm>
            <a:off x="365040" y="1143000"/>
            <a:ext cx="2652840" cy="685800"/>
          </a:xfrm>
          <a:prstGeom prst="roundRect">
            <a:avLst>
              <a:gd name="adj" fmla="val 10667"/>
            </a:avLst>
          </a:prstGeom>
          <a:solidFill>
            <a:srgbClr val="e74c3c"/>
          </a:solidFill>
          <a:ln w="12600">
            <a:solidFill>
              <a:srgbClr val="e74c3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3"/>
          <p:cNvSpPr/>
          <p:nvPr/>
        </p:nvSpPr>
        <p:spPr>
          <a:xfrm>
            <a:off x="411120" y="1185480"/>
            <a:ext cx="25606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IMMEDIATE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4"/>
          <p:cNvSpPr/>
          <p:nvPr/>
        </p:nvSpPr>
        <p:spPr>
          <a:xfrm>
            <a:off x="411120" y="1476000"/>
            <a:ext cx="25606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0–1 Month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5"/>
          <p:cNvSpPr/>
          <p:nvPr/>
        </p:nvSpPr>
        <p:spPr>
          <a:xfrm>
            <a:off x="365040" y="1920960"/>
            <a:ext cx="2652840" cy="2925720"/>
          </a:xfrm>
          <a:custGeom>
            <a:avLst/>
            <a:gdLst>
              <a:gd name="textAreaLeft" fmla="*/ 21240 w 2652840"/>
              <a:gd name="textAreaRight" fmla="*/ 2631600 w 2652840"/>
              <a:gd name="textAreaTop" fmla="*/ 21240 h 2925720"/>
              <a:gd name="textAreaBottom" fmla="*/ 2904480 h 2925720"/>
            </a:gdLst>
            <a:ahLst/>
            <a:rect l="textAreaLeft" t="textAreaTop" r="textAreaRight" b="textAreaBottom"/>
            <a:pathLst>
              <a:path w="21600" h="23822">
                <a:moveTo>
                  <a:pt x="596" y="0"/>
                </a:moveTo>
                <a:arcTo wR="596" hR="596" stAng="16200000" swAng="-5400000"/>
                <a:lnTo>
                  <a:pt x="0" y="23226"/>
                </a:lnTo>
                <a:arcTo wR="596" hR="596" stAng="10800000" swAng="-5400000"/>
                <a:lnTo>
                  <a:pt x="21004" y="23822"/>
                </a:lnTo>
                <a:arcTo wR="596" hR="596" stAng="5400000" swAng="-5400000"/>
                <a:lnTo>
                  <a:pt x="21600" y="596"/>
                </a:lnTo>
                <a:arcTo wR="596" hR="596" stAng="0" swAng="-5400000"/>
                <a:close/>
              </a:path>
            </a:pathLst>
          </a:custGeom>
          <a:solidFill>
            <a:srgbClr val="ffffff"/>
          </a:solidFill>
          <a:ln w="12600">
            <a:solidFill>
              <a:srgbClr val="e74c3c">
                <a:alpha val="50000"/>
              </a:srgbClr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6"/>
          <p:cNvSpPr/>
          <p:nvPr/>
        </p:nvSpPr>
        <p:spPr>
          <a:xfrm>
            <a:off x="503280" y="2130480"/>
            <a:ext cx="274680" cy="274680"/>
          </a:xfrm>
          <a:prstGeom prst="ellipse">
            <a:avLst/>
          </a:prstGeom>
          <a:solidFill>
            <a:srgbClr val="e74c3c"/>
          </a:solidFill>
          <a:ln w="12600">
            <a:solidFill>
              <a:srgbClr val="e74c3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7"/>
          <p:cNvSpPr/>
          <p:nvPr/>
        </p:nvSpPr>
        <p:spPr>
          <a:xfrm>
            <a:off x="503280" y="2198160"/>
            <a:ext cx="2746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8"/>
          <p:cNvSpPr/>
          <p:nvPr/>
        </p:nvSpPr>
        <p:spPr>
          <a:xfrm>
            <a:off x="914400" y="2270160"/>
            <a:ext cx="192096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  <a:ea typeface="Calibri"/>
              </a:rPr>
              <a:t>Deploy graph-enhanced ETA model to replace OSRM predictions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9"/>
          <p:cNvSpPr/>
          <p:nvPr/>
        </p:nvSpPr>
        <p:spPr>
          <a:xfrm>
            <a:off x="503280" y="3027240"/>
            <a:ext cx="274680" cy="273240"/>
          </a:xfrm>
          <a:prstGeom prst="ellipse">
            <a:avLst/>
          </a:prstGeom>
          <a:solidFill>
            <a:srgbClr val="e74c3c"/>
          </a:solidFill>
          <a:ln w="12600">
            <a:solidFill>
              <a:srgbClr val="e74c3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10"/>
          <p:cNvSpPr/>
          <p:nvPr/>
        </p:nvSpPr>
        <p:spPr>
          <a:xfrm>
            <a:off x="503280" y="3094920"/>
            <a:ext cx="2746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1"/>
          <p:cNvSpPr/>
          <p:nvPr/>
        </p:nvSpPr>
        <p:spPr>
          <a:xfrm>
            <a:off x="914400" y="3166920"/>
            <a:ext cx="192096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  <a:ea typeface="Calibri"/>
              </a:rPr>
              <a:t>Implement FTL decision framework on high-risk corridors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12"/>
          <p:cNvSpPr/>
          <p:nvPr/>
        </p:nvSpPr>
        <p:spPr>
          <a:xfrm>
            <a:off x="503280" y="3922560"/>
            <a:ext cx="274680" cy="274680"/>
          </a:xfrm>
          <a:prstGeom prst="ellipse">
            <a:avLst/>
          </a:prstGeom>
          <a:solidFill>
            <a:srgbClr val="e74c3c"/>
          </a:solidFill>
          <a:ln w="12600">
            <a:solidFill>
              <a:srgbClr val="e74c3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13"/>
          <p:cNvSpPr/>
          <p:nvPr/>
        </p:nvSpPr>
        <p:spPr>
          <a:xfrm>
            <a:off x="503280" y="3990240"/>
            <a:ext cx="2746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14"/>
          <p:cNvSpPr/>
          <p:nvPr/>
        </p:nvSpPr>
        <p:spPr>
          <a:xfrm>
            <a:off x="914400" y="4062600"/>
            <a:ext cx="192096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  <a:ea typeface="Calibri"/>
              </a:rPr>
              <a:t>Set up daily monitoring alerts for top 5 bottleneck hubs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15"/>
          <p:cNvSpPr/>
          <p:nvPr/>
        </p:nvSpPr>
        <p:spPr>
          <a:xfrm>
            <a:off x="3246480" y="1143000"/>
            <a:ext cx="2651040" cy="685800"/>
          </a:xfrm>
          <a:prstGeom prst="roundRect">
            <a:avLst>
              <a:gd name="adj" fmla="val 10667"/>
            </a:avLst>
          </a:prstGeom>
          <a:solidFill>
            <a:srgbClr val="f39c12"/>
          </a:solidFill>
          <a:ln w="12600">
            <a:solidFill>
              <a:srgbClr val="f39c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16"/>
          <p:cNvSpPr/>
          <p:nvPr/>
        </p:nvSpPr>
        <p:spPr>
          <a:xfrm>
            <a:off x="3292560" y="1185480"/>
            <a:ext cx="25588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SHORT TERM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17"/>
          <p:cNvSpPr/>
          <p:nvPr/>
        </p:nvSpPr>
        <p:spPr>
          <a:xfrm>
            <a:off x="3292560" y="1476000"/>
            <a:ext cx="25588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1–3 Months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18"/>
          <p:cNvSpPr/>
          <p:nvPr/>
        </p:nvSpPr>
        <p:spPr>
          <a:xfrm>
            <a:off x="3246480" y="1920960"/>
            <a:ext cx="2651040" cy="2925720"/>
          </a:xfrm>
          <a:custGeom>
            <a:avLst/>
            <a:gdLst>
              <a:gd name="textAreaLeft" fmla="*/ 21240 w 2651040"/>
              <a:gd name="textAreaRight" fmla="*/ 2629800 w 2651040"/>
              <a:gd name="textAreaTop" fmla="*/ 21240 h 2925720"/>
              <a:gd name="textAreaBottom" fmla="*/ 2904480 h 2925720"/>
            </a:gdLst>
            <a:ahLst/>
            <a:rect l="textAreaLeft" t="textAreaTop" r="textAreaRight" b="textAreaBottom"/>
            <a:pathLst>
              <a:path w="21600" h="23838">
                <a:moveTo>
                  <a:pt x="596" y="0"/>
                </a:moveTo>
                <a:arcTo wR="596" hR="596" stAng="16200000" swAng="-5400000"/>
                <a:lnTo>
                  <a:pt x="0" y="23242"/>
                </a:lnTo>
                <a:arcTo wR="596" hR="596" stAng="10800000" swAng="-5400000"/>
                <a:lnTo>
                  <a:pt x="21004" y="23838"/>
                </a:lnTo>
                <a:arcTo wR="596" hR="596" stAng="5400000" swAng="-5400000"/>
                <a:lnTo>
                  <a:pt x="21600" y="596"/>
                </a:lnTo>
                <a:arcTo wR="596" hR="596" stAng="0" swAng="-5400000"/>
                <a:close/>
              </a:path>
            </a:pathLst>
          </a:custGeom>
          <a:solidFill>
            <a:srgbClr val="ffffff"/>
          </a:solidFill>
          <a:ln w="12600">
            <a:solidFill>
              <a:srgbClr val="f39c12">
                <a:alpha val="50000"/>
              </a:srgbClr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19"/>
          <p:cNvSpPr/>
          <p:nvPr/>
        </p:nvSpPr>
        <p:spPr>
          <a:xfrm>
            <a:off x="3382920" y="2130480"/>
            <a:ext cx="274680" cy="274680"/>
          </a:xfrm>
          <a:prstGeom prst="ellipse">
            <a:avLst/>
          </a:prstGeom>
          <a:solidFill>
            <a:srgbClr val="f39c12"/>
          </a:solidFill>
          <a:ln w="12600">
            <a:solidFill>
              <a:srgbClr val="f39c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20"/>
          <p:cNvSpPr/>
          <p:nvPr/>
        </p:nvSpPr>
        <p:spPr>
          <a:xfrm>
            <a:off x="3382920" y="2198160"/>
            <a:ext cx="2746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21"/>
          <p:cNvSpPr/>
          <p:nvPr/>
        </p:nvSpPr>
        <p:spPr>
          <a:xfrm>
            <a:off x="3794040" y="2270160"/>
            <a:ext cx="192096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  <a:ea typeface="Calibri"/>
              </a:rPr>
              <a:t>Upgrade IND000000ACB with capacity expansion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22"/>
          <p:cNvSpPr/>
          <p:nvPr/>
        </p:nvSpPr>
        <p:spPr>
          <a:xfrm>
            <a:off x="3382920" y="3027240"/>
            <a:ext cx="274680" cy="273240"/>
          </a:xfrm>
          <a:prstGeom prst="ellipse">
            <a:avLst/>
          </a:prstGeom>
          <a:solidFill>
            <a:srgbClr val="f39c12"/>
          </a:solidFill>
          <a:ln w="12600">
            <a:solidFill>
              <a:srgbClr val="f39c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23"/>
          <p:cNvSpPr/>
          <p:nvPr/>
        </p:nvSpPr>
        <p:spPr>
          <a:xfrm>
            <a:off x="3382920" y="3094920"/>
            <a:ext cx="2746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24"/>
          <p:cNvSpPr/>
          <p:nvPr/>
        </p:nvSpPr>
        <p:spPr>
          <a:xfrm>
            <a:off x="3794040" y="3166920"/>
            <a:ext cx="192096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  <a:ea typeface="Calibri"/>
              </a:rPr>
              <a:t>Add alternate routing for IND501359AAE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25"/>
          <p:cNvSpPr/>
          <p:nvPr/>
        </p:nvSpPr>
        <p:spPr>
          <a:xfrm>
            <a:off x="3382920" y="3922560"/>
            <a:ext cx="274680" cy="274680"/>
          </a:xfrm>
          <a:prstGeom prst="ellipse">
            <a:avLst/>
          </a:prstGeom>
          <a:solidFill>
            <a:srgbClr val="f39c12"/>
          </a:solidFill>
          <a:ln w="12600">
            <a:solidFill>
              <a:srgbClr val="f39c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26"/>
          <p:cNvSpPr/>
          <p:nvPr/>
        </p:nvSpPr>
        <p:spPr>
          <a:xfrm>
            <a:off x="3382920" y="3990240"/>
            <a:ext cx="2746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27"/>
          <p:cNvSpPr/>
          <p:nvPr/>
        </p:nvSpPr>
        <p:spPr>
          <a:xfrm>
            <a:off x="3794040" y="4062600"/>
            <a:ext cx="192096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  <a:ea typeface="Calibri"/>
              </a:rPr>
              <a:t>Review all Carting operations on 100–600 km corridors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28"/>
          <p:cNvSpPr/>
          <p:nvPr/>
        </p:nvSpPr>
        <p:spPr>
          <a:xfrm>
            <a:off x="6126120" y="1143000"/>
            <a:ext cx="2652840" cy="685800"/>
          </a:xfrm>
          <a:prstGeom prst="roundRect">
            <a:avLst>
              <a:gd name="adj" fmla="val 10667"/>
            </a:avLst>
          </a:prstGeom>
          <a:solidFill>
            <a:srgbClr val="2ecc71"/>
          </a:solidFill>
          <a:ln w="12600">
            <a:solidFill>
              <a:srgbClr val="2ecc7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29"/>
          <p:cNvSpPr/>
          <p:nvPr/>
        </p:nvSpPr>
        <p:spPr>
          <a:xfrm>
            <a:off x="6172200" y="1185480"/>
            <a:ext cx="25606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LONG TERM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30"/>
          <p:cNvSpPr/>
          <p:nvPr/>
        </p:nvSpPr>
        <p:spPr>
          <a:xfrm>
            <a:off x="6172200" y="1476000"/>
            <a:ext cx="25606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3–6 Months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31"/>
          <p:cNvSpPr/>
          <p:nvPr/>
        </p:nvSpPr>
        <p:spPr>
          <a:xfrm>
            <a:off x="6126120" y="1920960"/>
            <a:ext cx="2652840" cy="2925720"/>
          </a:xfrm>
          <a:custGeom>
            <a:avLst/>
            <a:gdLst>
              <a:gd name="textAreaLeft" fmla="*/ 21240 w 2652840"/>
              <a:gd name="textAreaRight" fmla="*/ 2631600 w 2652840"/>
              <a:gd name="textAreaTop" fmla="*/ 21240 h 2925720"/>
              <a:gd name="textAreaBottom" fmla="*/ 2904480 h 2925720"/>
            </a:gdLst>
            <a:ahLst/>
            <a:rect l="textAreaLeft" t="textAreaTop" r="textAreaRight" b="textAreaBottom"/>
            <a:pathLst>
              <a:path w="21600" h="23822">
                <a:moveTo>
                  <a:pt x="596" y="0"/>
                </a:moveTo>
                <a:arcTo wR="596" hR="596" stAng="16200000" swAng="-5400000"/>
                <a:lnTo>
                  <a:pt x="0" y="23226"/>
                </a:lnTo>
                <a:arcTo wR="596" hR="596" stAng="10800000" swAng="-5400000"/>
                <a:lnTo>
                  <a:pt x="21004" y="23822"/>
                </a:lnTo>
                <a:arcTo wR="596" hR="596" stAng="5400000" swAng="-5400000"/>
                <a:lnTo>
                  <a:pt x="21600" y="596"/>
                </a:lnTo>
                <a:arcTo wR="596" hR="596" stAng="0" swAng="-5400000"/>
                <a:close/>
              </a:path>
            </a:pathLst>
          </a:custGeom>
          <a:solidFill>
            <a:srgbClr val="ffffff"/>
          </a:solidFill>
          <a:ln w="12600">
            <a:solidFill>
              <a:srgbClr val="2ecc71">
                <a:alpha val="50000"/>
              </a:srgbClr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32"/>
          <p:cNvSpPr/>
          <p:nvPr/>
        </p:nvSpPr>
        <p:spPr>
          <a:xfrm>
            <a:off x="6264360" y="2130480"/>
            <a:ext cx="272880" cy="274680"/>
          </a:xfrm>
          <a:prstGeom prst="ellipse">
            <a:avLst/>
          </a:prstGeom>
          <a:solidFill>
            <a:srgbClr val="2ecc71"/>
          </a:solidFill>
          <a:ln w="12600">
            <a:solidFill>
              <a:srgbClr val="2ecc7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33"/>
          <p:cNvSpPr/>
          <p:nvPr/>
        </p:nvSpPr>
        <p:spPr>
          <a:xfrm>
            <a:off x="6264360" y="2198160"/>
            <a:ext cx="2728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34"/>
          <p:cNvSpPr/>
          <p:nvPr/>
        </p:nvSpPr>
        <p:spPr>
          <a:xfrm>
            <a:off x="6675480" y="2270160"/>
            <a:ext cx="191916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  <a:ea typeface="Calibri"/>
              </a:rPr>
              <a:t>Build real-time Streamlit delay dashboard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35"/>
          <p:cNvSpPr/>
          <p:nvPr/>
        </p:nvSpPr>
        <p:spPr>
          <a:xfrm>
            <a:off x="6264360" y="3027240"/>
            <a:ext cx="272880" cy="273240"/>
          </a:xfrm>
          <a:prstGeom prst="ellipse">
            <a:avLst/>
          </a:prstGeom>
          <a:solidFill>
            <a:srgbClr val="2ecc71"/>
          </a:solidFill>
          <a:ln w="12600">
            <a:solidFill>
              <a:srgbClr val="2ecc7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36"/>
          <p:cNvSpPr/>
          <p:nvPr/>
        </p:nvSpPr>
        <p:spPr>
          <a:xfrm>
            <a:off x="6264360" y="3094920"/>
            <a:ext cx="2728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37"/>
          <p:cNvSpPr/>
          <p:nvPr/>
        </p:nvSpPr>
        <p:spPr>
          <a:xfrm>
            <a:off x="6675480" y="3166920"/>
            <a:ext cx="191916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  <a:ea typeface="Calibri"/>
              </a:rPr>
              <a:t>Integrate weather &amp; traffic data into model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38"/>
          <p:cNvSpPr/>
          <p:nvPr/>
        </p:nvSpPr>
        <p:spPr>
          <a:xfrm>
            <a:off x="6264360" y="3922560"/>
            <a:ext cx="272880" cy="274680"/>
          </a:xfrm>
          <a:prstGeom prst="ellipse">
            <a:avLst/>
          </a:prstGeom>
          <a:solidFill>
            <a:srgbClr val="2ecc71"/>
          </a:solidFill>
          <a:ln w="12600">
            <a:solidFill>
              <a:srgbClr val="2ecc7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39"/>
          <p:cNvSpPr/>
          <p:nvPr/>
        </p:nvSpPr>
        <p:spPr>
          <a:xfrm>
            <a:off x="6264360" y="3990240"/>
            <a:ext cx="2728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40"/>
          <p:cNvSpPr/>
          <p:nvPr/>
        </p:nvSpPr>
        <p:spPr>
          <a:xfrm>
            <a:off x="6675480" y="4062600"/>
            <a:ext cx="191916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334155"/>
                </a:solidFill>
                <a:latin typeface="Calibri"/>
                <a:ea typeface="Calibri"/>
              </a:rPr>
              <a:t>Explore GraphSAGE for further MAE improvements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 0"/>
          <p:cNvSpPr/>
          <p:nvPr/>
        </p:nvSpPr>
        <p:spPr>
          <a:xfrm>
            <a:off x="503280" y="258840"/>
            <a:ext cx="813744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Limitations &amp; Future Work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1"/>
          <p:cNvSpPr/>
          <p:nvPr/>
        </p:nvSpPr>
        <p:spPr>
          <a:xfrm>
            <a:off x="365040" y="1050840"/>
            <a:ext cx="3932280" cy="3841920"/>
          </a:xfrm>
          <a:prstGeom prst="roundRect">
            <a:avLst>
              <a:gd name="adj" fmla="val 2380"/>
            </a:avLst>
          </a:prstGeom>
          <a:solidFill>
            <a:srgbClr val="0d2137"/>
          </a:solidFill>
          <a:ln w="12600">
            <a:solidFill>
              <a:srgbClr val="e74c3c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2"/>
          <p:cNvSpPr/>
          <p:nvPr/>
        </p:nvSpPr>
        <p:spPr>
          <a:xfrm>
            <a:off x="593640" y="1200600"/>
            <a:ext cx="347508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e74c3c"/>
                </a:solidFill>
                <a:latin typeface="Calibri"/>
                <a:ea typeface="Calibri"/>
              </a:rPr>
              <a:t xml:space="preserve">⚠  </a:t>
            </a:r>
            <a:r>
              <a:rPr b="1" lang="en-US" sz="1400" spc="-1" strike="noStrike">
                <a:solidFill>
                  <a:srgbClr val="e74c3c"/>
                </a:solidFill>
                <a:latin typeface="Calibri"/>
                <a:ea typeface="Calibri"/>
              </a:rPr>
              <a:t>Limitations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3"/>
          <p:cNvSpPr/>
          <p:nvPr/>
        </p:nvSpPr>
        <p:spPr>
          <a:xfrm>
            <a:off x="593640" y="1779480"/>
            <a:ext cx="34750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 xml:space="preserve">•  </a:t>
            </a: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No revenue/penalty data for exact ROI calculation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4"/>
          <p:cNvSpPr/>
          <p:nvPr/>
        </p:nvSpPr>
        <p:spPr>
          <a:xfrm>
            <a:off x="593640" y="2419200"/>
            <a:ext cx="34750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 xml:space="preserve">•  </a:t>
            </a: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174 hubs missing from graph — filled with median values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5"/>
          <p:cNvSpPr/>
          <p:nvPr/>
        </p:nvSpPr>
        <p:spPr>
          <a:xfrm>
            <a:off x="593640" y="3060000"/>
            <a:ext cx="34750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 xml:space="preserve">•  </a:t>
            </a: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Real-time traffic, weather not incorporated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6"/>
          <p:cNvSpPr/>
          <p:nvPr/>
        </p:nvSpPr>
        <p:spPr>
          <a:xfrm>
            <a:off x="593640" y="3700440"/>
            <a:ext cx="34750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 xml:space="preserve">•  </a:t>
            </a: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node2vec embeddings not explored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7"/>
          <p:cNvSpPr/>
          <p:nvPr/>
        </p:nvSpPr>
        <p:spPr>
          <a:xfrm>
            <a:off x="593640" y="4264200"/>
            <a:ext cx="347508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 xml:space="preserve">•  </a:t>
            </a: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RMSE shows no improvement (MAE is the correct metric per spec)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8"/>
          <p:cNvSpPr/>
          <p:nvPr/>
        </p:nvSpPr>
        <p:spPr>
          <a:xfrm>
            <a:off x="4572000" y="1050840"/>
            <a:ext cx="4206960" cy="3841920"/>
          </a:xfrm>
          <a:prstGeom prst="roundRect">
            <a:avLst>
              <a:gd name="adj" fmla="val 2380"/>
            </a:avLst>
          </a:prstGeom>
          <a:solidFill>
            <a:srgbClr val="0d2137"/>
          </a:solidFill>
          <a:ln w="12600">
            <a:solidFill>
              <a:srgbClr val="2ecc71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9"/>
          <p:cNvSpPr/>
          <p:nvPr/>
        </p:nvSpPr>
        <p:spPr>
          <a:xfrm>
            <a:off x="4800600" y="1200600"/>
            <a:ext cx="374976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2ecc71"/>
                </a:solidFill>
                <a:latin typeface="Calibri"/>
                <a:ea typeface="Calibri"/>
              </a:rPr>
              <a:t xml:space="preserve">🚀  </a:t>
            </a:r>
            <a:r>
              <a:rPr b="1" lang="en-US" sz="1400" spc="-1" strike="noStrike">
                <a:solidFill>
                  <a:srgbClr val="2ecc71"/>
                </a:solidFill>
                <a:latin typeface="Calibri"/>
                <a:ea typeface="Calibri"/>
              </a:rPr>
              <a:t>Future Work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10"/>
          <p:cNvSpPr/>
          <p:nvPr/>
        </p:nvSpPr>
        <p:spPr>
          <a:xfrm>
            <a:off x="4800600" y="1779480"/>
            <a:ext cx="374976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 xml:space="preserve">→  </a:t>
            </a: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GraphSAGE / GAT neural networks for deeper graph learning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11"/>
          <p:cNvSpPr/>
          <p:nvPr/>
        </p:nvSpPr>
        <p:spPr>
          <a:xfrm>
            <a:off x="4800600" y="2419200"/>
            <a:ext cx="374976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 xml:space="preserve">→  </a:t>
            </a: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Real-time Streamlit dashboard with live delay risk scores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12"/>
          <p:cNvSpPr/>
          <p:nvPr/>
        </p:nvSpPr>
        <p:spPr>
          <a:xfrm>
            <a:off x="4800600" y="3060000"/>
            <a:ext cx="374976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 xml:space="preserve">→  </a:t>
            </a: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Weather &amp; seasonality integration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13"/>
          <p:cNvSpPr/>
          <p:nvPr/>
        </p:nvSpPr>
        <p:spPr>
          <a:xfrm>
            <a:off x="4800600" y="3700440"/>
            <a:ext cx="374976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 xml:space="preserve">→  </a:t>
            </a: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Expand graph to cover all 1,657 hubs fully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14"/>
          <p:cNvSpPr/>
          <p:nvPr/>
        </p:nvSpPr>
        <p:spPr>
          <a:xfrm>
            <a:off x="4800600" y="4340160"/>
            <a:ext cx="374976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 xml:space="preserve">→  </a:t>
            </a: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node2vec embeddings for richer hub representations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600">
            <a:solidFill>
              <a:srgbClr val="065a82">
                <a:alpha val="2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1"/>
          <p:cNvSpPr/>
          <p:nvPr/>
        </p:nvSpPr>
        <p:spPr>
          <a:xfrm>
            <a:off x="503280" y="258840"/>
            <a:ext cx="813744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Key Takeaways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2"/>
          <p:cNvSpPr/>
          <p:nvPr/>
        </p:nvSpPr>
        <p:spPr>
          <a:xfrm>
            <a:off x="365040" y="1189080"/>
            <a:ext cx="4024440" cy="1600200"/>
          </a:xfrm>
          <a:prstGeom prst="roundRect">
            <a:avLst>
              <a:gd name="adj" fmla="val 5713"/>
            </a:avLst>
          </a:prstGeom>
          <a:solidFill>
            <a:srgbClr val="0d2137"/>
          </a:solidFill>
          <a:ln w="12600">
            <a:solidFill>
              <a:srgbClr val="00b4d8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3"/>
          <p:cNvSpPr/>
          <p:nvPr/>
        </p:nvSpPr>
        <p:spPr>
          <a:xfrm>
            <a:off x="503280" y="1325520"/>
            <a:ext cx="503280" cy="503280"/>
          </a:xfrm>
          <a:prstGeom prst="ellipse">
            <a:avLst/>
          </a:prstGeom>
          <a:solidFill>
            <a:srgbClr val="00b4d8"/>
          </a:solidFill>
          <a:ln w="12600">
            <a:solidFill>
              <a:srgbClr val="00b4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4"/>
          <p:cNvSpPr/>
          <p:nvPr/>
        </p:nvSpPr>
        <p:spPr>
          <a:xfrm>
            <a:off x="503280" y="1455120"/>
            <a:ext cx="503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5"/>
          <p:cNvSpPr/>
          <p:nvPr/>
        </p:nvSpPr>
        <p:spPr>
          <a:xfrm>
            <a:off x="1189080" y="1354320"/>
            <a:ext cx="30178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Graph Works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6"/>
          <p:cNvSpPr/>
          <p:nvPr/>
        </p:nvSpPr>
        <p:spPr>
          <a:xfrm>
            <a:off x="593640" y="1991520"/>
            <a:ext cx="356724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4.96% MAE improvement proves graph structure adds real predictive value beyond trip-level features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7"/>
          <p:cNvSpPr/>
          <p:nvPr/>
        </p:nvSpPr>
        <p:spPr>
          <a:xfrm>
            <a:off x="4664160" y="1189080"/>
            <a:ext cx="4022640" cy="1600200"/>
          </a:xfrm>
          <a:prstGeom prst="roundRect">
            <a:avLst>
              <a:gd name="adj" fmla="val 5713"/>
            </a:avLst>
          </a:prstGeom>
          <a:solidFill>
            <a:srgbClr val="0d2137"/>
          </a:solidFill>
          <a:ln w="12600">
            <a:solidFill>
              <a:srgbClr val="e74c3c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8"/>
          <p:cNvSpPr/>
          <p:nvPr/>
        </p:nvSpPr>
        <p:spPr>
          <a:xfrm>
            <a:off x="4800600" y="1325520"/>
            <a:ext cx="503280" cy="503280"/>
          </a:xfrm>
          <a:prstGeom prst="ellipse">
            <a:avLst/>
          </a:prstGeom>
          <a:solidFill>
            <a:srgbClr val="e74c3c"/>
          </a:solidFill>
          <a:ln w="12600">
            <a:solidFill>
              <a:srgbClr val="e74c3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9"/>
          <p:cNvSpPr/>
          <p:nvPr/>
        </p:nvSpPr>
        <p:spPr>
          <a:xfrm>
            <a:off x="4800600" y="1455120"/>
            <a:ext cx="503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10"/>
          <p:cNvSpPr/>
          <p:nvPr/>
        </p:nvSpPr>
        <p:spPr>
          <a:xfrm>
            <a:off x="5486400" y="1354320"/>
            <a:ext cx="30178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e74c3c"/>
                </a:solidFill>
                <a:latin typeface="Calibri"/>
                <a:ea typeface="Calibri"/>
              </a:rPr>
              <a:t>Top 5 Hubs Identified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11"/>
          <p:cNvSpPr/>
          <p:nvPr/>
        </p:nvSpPr>
        <p:spPr>
          <a:xfrm>
            <a:off x="4892760" y="1991520"/>
            <a:ext cx="356544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IND000000ACB leads with betweenness 0.189 — fix this first for highest network-wide impact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12"/>
          <p:cNvSpPr/>
          <p:nvPr/>
        </p:nvSpPr>
        <p:spPr>
          <a:xfrm>
            <a:off x="365040" y="3017880"/>
            <a:ext cx="4024440" cy="1600200"/>
          </a:xfrm>
          <a:prstGeom prst="roundRect">
            <a:avLst>
              <a:gd name="adj" fmla="val 5713"/>
            </a:avLst>
          </a:prstGeom>
          <a:solidFill>
            <a:srgbClr val="0d2137"/>
          </a:solidFill>
          <a:ln w="12600">
            <a:solidFill>
              <a:srgbClr val="2ecc71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13"/>
          <p:cNvSpPr/>
          <p:nvPr/>
        </p:nvSpPr>
        <p:spPr>
          <a:xfrm>
            <a:off x="503280" y="3154320"/>
            <a:ext cx="503280" cy="503280"/>
          </a:xfrm>
          <a:prstGeom prst="ellipse">
            <a:avLst/>
          </a:prstGeom>
          <a:solidFill>
            <a:srgbClr val="2ecc71"/>
          </a:solidFill>
          <a:ln w="12600">
            <a:solidFill>
              <a:srgbClr val="2ecc7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14"/>
          <p:cNvSpPr/>
          <p:nvPr/>
        </p:nvSpPr>
        <p:spPr>
          <a:xfrm>
            <a:off x="503280" y="3283920"/>
            <a:ext cx="503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15"/>
          <p:cNvSpPr/>
          <p:nvPr/>
        </p:nvSpPr>
        <p:spPr>
          <a:xfrm>
            <a:off x="1189080" y="3183120"/>
            <a:ext cx="30178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2ecc71"/>
                </a:solidFill>
                <a:latin typeface="Calibri"/>
                <a:ea typeface="Calibri"/>
              </a:rPr>
              <a:t>FTL Wins Every Time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16"/>
          <p:cNvSpPr/>
          <p:nvPr/>
        </p:nvSpPr>
        <p:spPr>
          <a:xfrm>
            <a:off x="593640" y="3820320"/>
            <a:ext cx="356724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FTL outperforms Carting across ALL distance ranges — shift high-priority shipments now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17"/>
          <p:cNvSpPr/>
          <p:nvPr/>
        </p:nvSpPr>
        <p:spPr>
          <a:xfrm>
            <a:off x="4664160" y="3017880"/>
            <a:ext cx="4022640" cy="1600200"/>
          </a:xfrm>
          <a:prstGeom prst="roundRect">
            <a:avLst>
              <a:gd name="adj" fmla="val 5713"/>
            </a:avLst>
          </a:prstGeom>
          <a:solidFill>
            <a:srgbClr val="0d2137"/>
          </a:solidFill>
          <a:ln w="12600">
            <a:solidFill>
              <a:srgbClr val="f39c12"/>
            </a:solidFill>
            <a:miter/>
          </a:ln>
          <a:effectLst>
            <a:outerShdw dist="38183" dir="2700000" blurRad="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18"/>
          <p:cNvSpPr/>
          <p:nvPr/>
        </p:nvSpPr>
        <p:spPr>
          <a:xfrm>
            <a:off x="4800600" y="3154320"/>
            <a:ext cx="503280" cy="503280"/>
          </a:xfrm>
          <a:prstGeom prst="ellipse">
            <a:avLst/>
          </a:prstGeom>
          <a:solidFill>
            <a:srgbClr val="f39c12"/>
          </a:solidFill>
          <a:ln w="12600">
            <a:solidFill>
              <a:srgbClr val="f39c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19"/>
          <p:cNvSpPr/>
          <p:nvPr/>
        </p:nvSpPr>
        <p:spPr>
          <a:xfrm>
            <a:off x="4800600" y="3283920"/>
            <a:ext cx="503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20"/>
          <p:cNvSpPr/>
          <p:nvPr/>
        </p:nvSpPr>
        <p:spPr>
          <a:xfrm>
            <a:off x="5486400" y="3183120"/>
            <a:ext cx="30178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f39c12"/>
                </a:solidFill>
                <a:latin typeface="Calibri"/>
                <a:ea typeface="Calibri"/>
              </a:rPr>
              <a:t>Deploy Immediately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21"/>
          <p:cNvSpPr/>
          <p:nvPr/>
        </p:nvSpPr>
        <p:spPr>
          <a:xfrm>
            <a:off x="4892760" y="3820320"/>
            <a:ext cx="356544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4f8"/>
                </a:solidFill>
                <a:latin typeface="Calibri"/>
                <a:ea typeface="Calibri"/>
              </a:rPr>
              <a:t>Graph-enhanced model + FTL framework ready for deployment — no further development needed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22"/>
          <p:cNvSpPr/>
          <p:nvPr/>
        </p:nvSpPr>
        <p:spPr>
          <a:xfrm>
            <a:off x="503280" y="4761000"/>
            <a:ext cx="81374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This project delivers both improved ETA predictions and actionable operational intelligence for Delhivery's logistics decision makers.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600">
            <a:solidFill>
              <a:srgbClr val="065a82">
                <a:alpha val="30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600">
            <a:solidFill>
              <a:srgbClr val="1c7293">
                <a:alpha val="2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2"/>
          <p:cNvSpPr/>
          <p:nvPr/>
        </p:nvSpPr>
        <p:spPr>
          <a:xfrm>
            <a:off x="503280" y="1234080"/>
            <a:ext cx="813744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5400" spc="-1" strike="noStrike">
                <a:solidFill>
                  <a:srgbClr val="ffffff"/>
                </a:solidFill>
                <a:latin typeface="Cambria"/>
                <a:ea typeface="Cambria"/>
              </a:rPr>
              <a:t>Thank You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5"/>
          <p:cNvSpPr/>
          <p:nvPr/>
        </p:nvSpPr>
        <p:spPr>
          <a:xfrm>
            <a:off x="503280" y="3021840"/>
            <a:ext cx="81374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Optimizing Delivery ETAs with Graph-Based Network Intelligence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6"/>
          <p:cNvSpPr/>
          <p:nvPr/>
        </p:nvSpPr>
        <p:spPr>
          <a:xfrm>
            <a:off x="457200" y="3521160"/>
            <a:ext cx="1573200" cy="345960"/>
          </a:xfrm>
          <a:prstGeom prst="roundRect">
            <a:avLst>
              <a:gd name="adj" fmla="val 26315"/>
            </a:avLst>
          </a:prstGeom>
          <a:solidFill>
            <a:srgbClr val="0d2137"/>
          </a:solidFill>
          <a:ln w="12600">
            <a:solidFill>
              <a:srgbClr val="1c729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7"/>
          <p:cNvSpPr/>
          <p:nvPr/>
        </p:nvSpPr>
        <p:spPr>
          <a:xfrm>
            <a:off x="457200" y="3633120"/>
            <a:ext cx="15732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b4d8"/>
                </a:solidFill>
                <a:latin typeface="Calibri"/>
                <a:ea typeface="Calibri"/>
              </a:rPr>
              <a:t>Graph Construction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8"/>
          <p:cNvSpPr/>
          <p:nvPr/>
        </p:nvSpPr>
        <p:spPr>
          <a:xfrm>
            <a:off x="2149560" y="3521160"/>
            <a:ext cx="1571400" cy="345960"/>
          </a:xfrm>
          <a:prstGeom prst="roundRect">
            <a:avLst>
              <a:gd name="adj" fmla="val 26315"/>
            </a:avLst>
          </a:prstGeom>
          <a:solidFill>
            <a:srgbClr val="0d2137"/>
          </a:solidFill>
          <a:ln w="12600">
            <a:solidFill>
              <a:srgbClr val="1c729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9"/>
          <p:cNvSpPr/>
          <p:nvPr/>
        </p:nvSpPr>
        <p:spPr>
          <a:xfrm>
            <a:off x="2149560" y="3633120"/>
            <a:ext cx="15714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b4d8"/>
                </a:solidFill>
                <a:latin typeface="Calibri"/>
                <a:ea typeface="Calibri"/>
              </a:rPr>
              <a:t>Bottleneck Audit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10"/>
          <p:cNvSpPr/>
          <p:nvPr/>
        </p:nvSpPr>
        <p:spPr>
          <a:xfrm>
            <a:off x="3840120" y="3521160"/>
            <a:ext cx="1573200" cy="345960"/>
          </a:xfrm>
          <a:prstGeom prst="roundRect">
            <a:avLst>
              <a:gd name="adj" fmla="val 26315"/>
            </a:avLst>
          </a:prstGeom>
          <a:solidFill>
            <a:srgbClr val="0d2137"/>
          </a:solidFill>
          <a:ln w="12600">
            <a:solidFill>
              <a:srgbClr val="1c729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11"/>
          <p:cNvSpPr/>
          <p:nvPr/>
        </p:nvSpPr>
        <p:spPr>
          <a:xfrm>
            <a:off x="3840120" y="3633120"/>
            <a:ext cx="15732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b4d8"/>
                </a:solidFill>
                <a:latin typeface="Calibri"/>
                <a:ea typeface="Calibri"/>
              </a:rPr>
              <a:t>ETA Prediction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12"/>
          <p:cNvSpPr/>
          <p:nvPr/>
        </p:nvSpPr>
        <p:spPr>
          <a:xfrm>
            <a:off x="5532480" y="3521160"/>
            <a:ext cx="1573200" cy="345960"/>
          </a:xfrm>
          <a:prstGeom prst="roundRect">
            <a:avLst>
              <a:gd name="adj" fmla="val 26315"/>
            </a:avLst>
          </a:prstGeom>
          <a:solidFill>
            <a:srgbClr val="0d2137"/>
          </a:solidFill>
          <a:ln w="12600">
            <a:solidFill>
              <a:srgbClr val="1c729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13"/>
          <p:cNvSpPr/>
          <p:nvPr/>
        </p:nvSpPr>
        <p:spPr>
          <a:xfrm>
            <a:off x="5532480" y="3633120"/>
            <a:ext cx="15732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b4d8"/>
                </a:solidFill>
                <a:latin typeface="Calibri"/>
                <a:ea typeface="Calibri"/>
              </a:rPr>
              <a:t>FTL vs Carting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14"/>
          <p:cNvSpPr/>
          <p:nvPr/>
        </p:nvSpPr>
        <p:spPr>
          <a:xfrm>
            <a:off x="7223040" y="3521160"/>
            <a:ext cx="1573200" cy="345960"/>
          </a:xfrm>
          <a:prstGeom prst="roundRect">
            <a:avLst>
              <a:gd name="adj" fmla="val 26315"/>
            </a:avLst>
          </a:prstGeom>
          <a:solidFill>
            <a:srgbClr val="0d2137"/>
          </a:solidFill>
          <a:ln w="12600">
            <a:solidFill>
              <a:srgbClr val="1c729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15"/>
          <p:cNvSpPr/>
          <p:nvPr/>
        </p:nvSpPr>
        <p:spPr>
          <a:xfrm>
            <a:off x="7223040" y="3633120"/>
            <a:ext cx="15732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b4d8"/>
                </a:solidFill>
                <a:latin typeface="Calibri"/>
                <a:ea typeface="Calibri"/>
              </a:rPr>
              <a:t>Strategy Memo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16"/>
          <p:cNvSpPr/>
          <p:nvPr/>
        </p:nvSpPr>
        <p:spPr>
          <a:xfrm>
            <a:off x="503280" y="4678560"/>
            <a:ext cx="81374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June 2026  •  ABV — IIITM Gwalior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>cloudconvert_11</cp:lastModifiedBy>
  <dcterms:modified xsi:type="dcterms:W3CDTF">2026-06-13T07:04:30Z</dcterms:modified>
  <cp:revision>1</cp:revision>
  <dc:subject/>
  <dc:title>PowerPoint Presentation</dc:title>
</cp:coreProperties>
</file>